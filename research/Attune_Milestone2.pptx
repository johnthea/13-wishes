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Attune</a:t>
            </a:r>
            <a:r>
              <a:rPr sz="5400" b="0">
                <a:solidFill>
                  <a:srgbClr val="FFFFFF"/>
                </a:solidFill>
                <a:latin typeface="Arial"/>
              </a:rPr>
              <a:t>   </a:t>
            </a:r>
            <a:r>
              <a:rPr sz="1600" b="0" i="1">
                <a:solidFill>
                  <a:srgbClr val="C96F8A"/>
                </a:solidFill>
                <a:latin typeface="Arial"/>
              </a:rPr>
              <a:t>[working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C96F8A"/>
                </a:solidFill>
                <a:latin typeface="Arial"/>
              </a:rPr>
              <a:t>The measurement layer for hormone therapy —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turning "dose by feel" into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Menopause &amp; perimenopause hormone therapy · US + Canada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C96F8A"/>
                </a:solidFill>
                <a:latin typeface="Arial"/>
              </a:rPr>
              <a:t>Milestone Presentation #2</a:t>
            </a:r>
            <a:r>
              <a:rPr sz="1400" b="0">
                <a:solidFill>
                  <a:srgbClr val="D9C7D2"/>
                </a:solidFill>
                <a:latin typeface="Arial"/>
              </a:rPr>
              <a:t>     |     Discovery-stage venture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C9B5C2"/>
                </a:solidFill>
                <a:latin typeface="Arial"/>
              </a:rPr>
              <a:t>Team: [Founder name] · [advisors]       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A therapy you must dose "by feel" — with no way to record the feeling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B252A"/>
                </a:solidFill>
                <a:latin typeface="Arial"/>
              </a:rPr>
              <a:t>Menopause hormone therapy (HRT) must be </a:t>
            </a:r>
            <a:r>
              <a:rPr sz="1600" b="1">
                <a:solidFill>
                  <a:srgbClr val="4A1F3D"/>
                </a:solidFill>
                <a:latin typeface="Arial"/>
              </a:rPr>
              <a:t>titrated by symptoms, not blood levels</a:t>
            </a:r>
            <a:r>
              <a:rPr sz="1600" b="0">
                <a:solidFill>
                  <a:srgbClr val="2B252A"/>
                </a:solidFill>
                <a:latin typeface="Arial"/>
              </a:rPr>
              <a:t> — per NAMS/ACOG guidelines. Yet nothing records those symptoms.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3602736" cy="228600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3602736" cy="109728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145536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4A1F3D"/>
                </a:solidFill>
                <a:latin typeface="Arial"/>
              </a:rPr>
              <a:t>3–6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3145536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2B252A"/>
                </a:solidFill>
                <a:latin typeface="Arial"/>
              </a:rPr>
              <a:t>to find a stable dose; every change needs 4–6 weeks to judge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423160"/>
            <a:ext cx="3602736" cy="228600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423160"/>
            <a:ext cx="3602736" cy="109728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697480"/>
            <a:ext cx="3145536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96F8A"/>
                </a:solidFill>
                <a:latin typeface="Arial"/>
              </a:rPr>
              <a:t>~50%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611880"/>
            <a:ext cx="3145536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2B252A"/>
                </a:solidFill>
                <a:latin typeface="Arial"/>
              </a:rPr>
              <a:t>quit HRT in the first year — 64–87% of them blame side-effects (i.e. the dose was never dialled in)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423160"/>
            <a:ext cx="3602736" cy="228600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423160"/>
            <a:ext cx="3602736" cy="109728"/>
          </a:xfrm>
          <a:prstGeom prst="rect">
            <a:avLst/>
          </a:prstGeom>
          <a:solidFill>
            <a:srgbClr val="6E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697480"/>
            <a:ext cx="3145536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6E335C"/>
                </a:solidFill>
                <a:latin typeface="Arial"/>
              </a:rPr>
              <a:t>The blind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3611880"/>
            <a:ext cx="3145536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2B252A"/>
                </a:solidFill>
                <a:latin typeface="Arial"/>
              </a:rPr>
              <a:t>panic-quitting peaks at weeks 2–3; the first follow-up is week 6–12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A1F3D"/>
                </a:solidFill>
                <a:latin typeface="Arial"/>
              </a:rPr>
              <a:t>The core failure: </a:t>
            </a:r>
            <a:r>
              <a:rPr sz="1500" b="0">
                <a:solidFill>
                  <a:srgbClr val="2B252A"/>
                </a:solidFill>
                <a:latin typeface="Arial"/>
              </a:rPr>
              <a:t>the patient suffers in an information vacuum for months, the clinician re-doses on a vague recall ("uh… not great?"), and half the treatment dies before it stabilises. This window is invisible to today's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Make titration a monitored "season" — with a start, an end, and a graduation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602736" cy="44805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602736" cy="566928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3602736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For 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30-second structured daily check-in (SMS-first)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“Expected-band” feedback: is what you feel on the normal trajectory? (day 18, dose X)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Answers “is this normal?” before she rips off the 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371600"/>
            <a:ext cx="3602736" cy="44805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71600"/>
            <a:ext cx="3602736" cy="566928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371600"/>
            <a:ext cx="3602736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For the clinician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A one-page dose–symptom curve auto-sent 48h before the visit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Red-flag symptoms auto-triaged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Turns “not great?” into an 8-week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371600"/>
            <a:ext cx="3602736" cy="44805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371600"/>
            <a:ext cx="3602736" cy="566928"/>
          </a:xfrm>
          <a:prstGeom prst="rect">
            <a:avLst/>
          </a:prstGeom>
          <a:solidFill>
            <a:srgbClr val="6E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371600"/>
            <a:ext cx="3602736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For the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488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Structured data → one nurse oversees hundreds (exception-based)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Billable: RTM in the US (~$94/patient/mo)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0">
                <a:solidFill>
                  <a:srgbClr val="2B252A"/>
                </a:solidFill>
                <a:latin typeface="Arial"/>
              </a:rPr>
              <a:t>Builds a dose↔response dataset that exists nowhere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4A1F3D"/>
                </a:solidFill>
                <a:latin typeface="Arial"/>
              </a:rPr>
              <a:t>Mechanism proven: </a:t>
            </a:r>
            <a:r>
              <a:rPr sz="1300" b="0">
                <a:solidFill>
                  <a:srgbClr val="6B6368"/>
                </a:solidFill>
                <a:latin typeface="Arial"/>
              </a:rPr>
              <a:t>Basch et al., JAMA 2017 (n=766) — structured symptom self-report + alerts kept cancer patients on treatment 2 months longer and extended survival 5.2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MARKET · CUSTOMER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Who we serve: women in the titration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49377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4A1F3D"/>
                </a:solidFill>
                <a:latin typeface="Arial"/>
              </a:rPr>
              <a:t>Primary user — “Sarah, 51”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0">
                <a:solidFill>
                  <a:srgbClr val="2B252A"/>
                </a:solidFill>
                <a:latin typeface="Arial"/>
              </a:rPr>
              <a:t>Just started HRT (or a non-hormonal menopause drug)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0">
                <a:solidFill>
                  <a:srgbClr val="2B252A"/>
                </a:solidFill>
                <a:latin typeface="Arial"/>
              </a:rPr>
              <a:t>In month 0–6: the highest-anxiety, highest-search, highest-quit window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00" b="1">
                <a:solidFill>
                  <a:srgbClr val="4A1F3D"/>
                </a:solidFill>
                <a:latin typeface="Arial"/>
              </a:rPr>
              <a:t>Canada twist: </a:t>
            </a:r>
            <a:r>
              <a:rPr sz="1300" b="0">
                <a:solidFill>
                  <a:srgbClr val="2B252A"/>
                </a:solidFill>
                <a:latin typeface="Arial"/>
              </a:rPr>
              <a:t>may have no family doctor — nobody owns her post-prescription 24 weeks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0">
                <a:solidFill>
                  <a:srgbClr val="2B252A"/>
                </a:solidFill>
                <a:latin typeface="Arial"/>
              </a:rPr>
              <a:t>Already paying out of pocket: copays, compounded HRT, supplements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0">
                <a:solidFill>
                  <a:srgbClr val="2B252A"/>
                </a:solidFill>
                <a:latin typeface="Arial"/>
              </a:rPr>
              <a:t>What she wants is not “fewer hot flashes” — it is “feel like myself again”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49240" cy="49377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4A1F3D"/>
                </a:solidFill>
                <a:latin typeface="Arial"/>
              </a:rPr>
              <a:t>Who pays (≠ the user)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400" b="1">
                <a:solidFill>
                  <a:srgbClr val="C96F8A"/>
                </a:solidFill>
                <a:latin typeface="Arial"/>
              </a:rPr>
              <a:t>Pharma</a:t>
            </a:r>
            <a:r>
              <a:rPr sz="1350" b="0">
                <a:solidFill>
                  <a:srgbClr val="2B252A"/>
                </a:solidFill>
                <a:latin typeface="Arial"/>
              </a:rPr>
              <a:t> — launch-stage drug makers buying adherence + real-world evidence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400" b="1">
                <a:solidFill>
                  <a:srgbClr val="C96F8A"/>
                </a:solidFill>
                <a:latin typeface="Arial"/>
              </a:rPr>
              <a:t>Virtual clinics</a:t>
            </a:r>
            <a:r>
              <a:rPr sz="1350" b="0">
                <a:solidFill>
                  <a:srgbClr val="2B252A"/>
                </a:solidFill>
                <a:latin typeface="Arial"/>
              </a:rPr>
              <a:t> — embed us to cut first-year churn &amp; win renewals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400" b="1">
                <a:solidFill>
                  <a:srgbClr val="C96F8A"/>
                </a:solidFill>
                <a:latin typeface="Arial"/>
              </a:rPr>
              <a:t>Payers / RTM (US)</a:t>
            </a:r>
            <a:r>
              <a:rPr sz="1350" b="0">
                <a:solidFill>
                  <a:srgbClr val="2B252A"/>
                </a:solidFill>
                <a:latin typeface="Arial"/>
              </a:rPr>
              <a:t> — monitoring reimbursed per patient-month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400" b="1">
                <a:solidFill>
                  <a:srgbClr val="C96F8A"/>
                </a:solidFill>
                <a:latin typeface="Arial"/>
              </a:rPr>
              <a:t>Group benefits (Canada)</a:t>
            </a:r>
            <a:r>
              <a:rPr sz="1350" b="0">
                <a:solidFill>
                  <a:srgbClr val="2B252A"/>
                </a:solidFill>
                <a:latin typeface="Arial"/>
              </a:rPr>
              <a:t> — Manulife/Sun Life; HRT claims +20.7% in 3 yrs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400" b="1">
                <a:solidFill>
                  <a:srgbClr val="C96F8A"/>
                </a:solidFill>
                <a:latin typeface="Arial"/>
              </a:rPr>
              <a:t>She (DTC assist)</a:t>
            </a:r>
            <a:r>
              <a:rPr sz="1350" b="0">
                <a:solidFill>
                  <a:srgbClr val="2B252A"/>
                </a:solidFill>
                <a:latin typeface="Arial"/>
              </a:rPr>
              <a:t> — low-price tier; mainly the data &amp; patient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MARKET · SIZE (ESTIMATE)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TAM / SAM / SOM — the on-treatment subset, US +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727" y="1554480"/>
            <a:ext cx="11064240" cy="1234440"/>
          </a:xfrm>
          <a:prstGeom prst="round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554480"/>
            <a:ext cx="14630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1087" y="1554480"/>
            <a:ext cx="228600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~$0.5–1.5B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527" y="1554480"/>
            <a:ext cx="676656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All women on / starting hormone-related therapy in US+CA (~3.2M today, growing 20%+/yr) × $150–580 monitoring value + pharma RWE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98167" y="2971800"/>
            <a:ext cx="8595360" cy="1234440"/>
          </a:xfrm>
          <a:prstGeom prst="roundRect">
            <a:avLst/>
          </a:prstGeom>
          <a:solidFill>
            <a:srgbClr val="6E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72487" y="2971800"/>
            <a:ext cx="14630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527" y="2971800"/>
            <a:ext cx="228600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~$150–300M / 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2967" y="2971800"/>
            <a:ext cx="429768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Reachable in 3–5 yrs via virtual clinics + pharmacist channel (CA) + DTC + one pharma 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78327" y="4389120"/>
            <a:ext cx="6035040" cy="1234440"/>
          </a:xfrm>
          <a:prstGeom prst="round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2647" y="4389120"/>
            <a:ext cx="14630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687" y="4389120"/>
            <a:ext cx="228600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~$5–12M 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4389120"/>
            <a:ext cx="173736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36-month obtainable: 1 pharma pilot + 2 clinic design partners + 10–20k DTC subscribers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1">
                <a:solidFill>
                  <a:srgbClr val="4A1F3D"/>
                </a:solidFill>
                <a:latin typeface="Arial"/>
              </a:rPr>
              <a:t>Estimates. </a:t>
            </a:r>
            <a:r>
              <a:rPr sz="1200" b="0" i="1">
                <a:solidFill>
                  <a:srgbClr val="6B6368"/>
                </a:solidFill>
                <a:latin typeface="Arial"/>
              </a:rPr>
              <a:t>Most-uncertain input = annual new-starts; to be validated with a Komodo/Truveta/IQVIA claims slice. No RTM code in Canada → revenue re-routes to benefits + pharmacist channel.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MARKET · INDUSTRY &amp;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Five inflection points landed in the same 18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57200" cy="868680"/>
          </a:xfrm>
          <a:prstGeom prst="round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4572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71600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1F3D"/>
                </a:solidFill>
                <a:latin typeface="Arial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371600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52A"/>
                </a:solidFill>
                <a:latin typeface="Arial"/>
              </a:rPr>
              <a:t>FDA removed HRT’s 20-year boxed warning (2025). US prescribing +86% since 2021; 1 in 20 women 45–54 now on estrogen.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40864"/>
            <a:ext cx="457200" cy="868680"/>
          </a:xfrm>
          <a:prstGeom prst="round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40864"/>
            <a:ext cx="4572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340864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1F3D"/>
                </a:solidFill>
                <a:latin typeface="Arial"/>
              </a:rPr>
              <a:t>Reimbursement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40864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52A"/>
                </a:solidFill>
                <a:latin typeface="Arial"/>
              </a:rPr>
              <a:t>2026 brought the biggest-ever RTM expansion — treatment-response monitoring is billable per month for the first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10128"/>
            <a:ext cx="457200" cy="868680"/>
          </a:xfrm>
          <a:prstGeom prst="round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10128"/>
            <a:ext cx="4572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10128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1F3D"/>
                </a:solidFill>
                <a:latin typeface="Arial"/>
              </a:rPr>
              <a:t>Supply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10128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52A"/>
                </a:solidFill>
                <a:latin typeface="Arial"/>
              </a:rPr>
              <a:t>Virtual menopause clinics reached scale (Midi ~$1B) and now compete on “proof of outcomes” — our data is their renewal ammo.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79392"/>
            <a:ext cx="457200" cy="868680"/>
          </a:xfrm>
          <a:prstGeom prst="round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79392"/>
            <a:ext cx="4572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79392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1F3D"/>
                </a:solidFill>
                <a:latin typeface="Arial"/>
              </a:rPr>
              <a:t>Drugs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79392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52A"/>
                </a:solidFill>
                <a:latin typeface="Arial"/>
              </a:rPr>
              <a:t>Two non-hormonal launches (Veozah 2023, Lynkuet 2025) head-to-head — both need differentiating real-world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48656"/>
            <a:ext cx="457200" cy="868680"/>
          </a:xfrm>
          <a:prstGeom prst="round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48656"/>
            <a:ext cx="4572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248656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1F3D"/>
                </a:solidFill>
                <a:latin typeface="Arial"/>
              </a:rPr>
              <a:t>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248656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52A"/>
                </a:solidFill>
                <a:latin typeface="Arial"/>
              </a:rPr>
              <a:t>Fertility’s history rhymes: 2026–2028 is the payer-consolidation window. The measurement layer must claim its spot before a category winner internalises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Everyone touches the patient — nobody owns the titration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566160" cy="914400"/>
          </a:xfrm>
          <a:prstGeom prst="rect">
            <a:avLst/>
          </a:prstGeom>
          <a:solidFill>
            <a:srgbClr val="4A1F3D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657600" cy="914400"/>
          </a:xfrm>
          <a:prstGeom prst="rect">
            <a:avLst/>
          </a:prstGeom>
          <a:solidFill>
            <a:srgbClr val="4A1F3D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3840480" cy="914400"/>
          </a:xfrm>
          <a:prstGeom prst="rect">
            <a:avLst/>
          </a:prstGeom>
          <a:solidFill>
            <a:srgbClr val="4A1F3D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71600"/>
            <a:ext cx="3383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371600"/>
            <a:ext cx="34747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they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371600"/>
            <a:ext cx="3657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Structural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solidFill>
            <a:srgbClr val="FBF8FA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2286000"/>
            <a:ext cx="3657600" cy="914400"/>
          </a:xfrm>
          <a:prstGeom prst="rect">
            <a:avLst/>
          </a:prstGeom>
          <a:solidFill>
            <a:srgbClr val="FBF8FA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286000"/>
            <a:ext cx="3840480" cy="914400"/>
          </a:xfrm>
          <a:prstGeom prst="rect">
            <a:avLst/>
          </a:prstGeom>
          <a:solidFill>
            <a:srgbClr val="FBF8FA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86000"/>
            <a:ext cx="3383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4A1F3D"/>
                </a:solidFill>
                <a:latin typeface="Arial"/>
              </a:rPr>
              <a:t>Virtual clinics (Midi, Evernow, Blair CA)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286000"/>
            <a:ext cx="34747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6–12 wk video visits + reactive messaging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2286000"/>
            <a:ext cx="3657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Point-sampling; passive inbox; blind weeks 2–5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3566160" cy="914400"/>
          </a:xfrm>
          <a:prstGeom prst="rect">
            <a:avLst/>
          </a:prstGeom>
          <a:solidFill>
            <a:srgbClr val="F6F1F4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3200400"/>
            <a:ext cx="3657600" cy="914400"/>
          </a:xfrm>
          <a:prstGeom prst="rect">
            <a:avLst/>
          </a:prstGeom>
          <a:solidFill>
            <a:srgbClr val="F6F1F4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200400"/>
            <a:ext cx="3840480" cy="914400"/>
          </a:xfrm>
          <a:prstGeom prst="rect">
            <a:avLst/>
          </a:prstGeom>
          <a:solidFill>
            <a:srgbClr val="F6F1F4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200400"/>
            <a:ext cx="3383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4A1F3D"/>
                </a:solidFill>
                <a:latin typeface="Arial"/>
              </a:rPr>
              <a:t>Tracker apps (Balance, HRTMe)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3200400"/>
            <a:ext cx="34747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Symptom diary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3200400"/>
            <a:ext cx="3657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No dose-alignment, no clinical loop, no billing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3566160" cy="914400"/>
          </a:xfrm>
          <a:prstGeom prst="rect">
            <a:avLst/>
          </a:prstGeom>
          <a:solidFill>
            <a:srgbClr val="FBF8FA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4114800"/>
            <a:ext cx="3657600" cy="914400"/>
          </a:xfrm>
          <a:prstGeom prst="rect">
            <a:avLst/>
          </a:prstGeom>
          <a:solidFill>
            <a:srgbClr val="FBF8FA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4114800"/>
            <a:ext cx="3840480" cy="914400"/>
          </a:xfrm>
          <a:prstGeom prst="rect">
            <a:avLst/>
          </a:prstGeom>
          <a:solidFill>
            <a:srgbClr val="FBF8FA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114800"/>
            <a:ext cx="3383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4A1F3D"/>
                </a:solidFill>
                <a:latin typeface="Arial"/>
              </a:rPr>
              <a:t>Hormone hardware (Clair, Eli)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4114800"/>
            <a:ext cx="34747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Hormone levels (inferred / tested)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114800"/>
            <a:ext cx="3657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Not the variable guidelines dose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29200"/>
            <a:ext cx="3566160" cy="914400"/>
          </a:xfrm>
          <a:prstGeom prst="rect">
            <a:avLst/>
          </a:prstGeom>
          <a:solidFill>
            <a:srgbClr val="F6F1F4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5029200"/>
            <a:ext cx="3657600" cy="914400"/>
          </a:xfrm>
          <a:prstGeom prst="rect">
            <a:avLst/>
          </a:prstGeom>
          <a:solidFill>
            <a:srgbClr val="F6F1F4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5029200"/>
            <a:ext cx="3840480" cy="914400"/>
          </a:xfrm>
          <a:prstGeom prst="rect">
            <a:avLst/>
          </a:prstGeom>
          <a:solidFill>
            <a:srgbClr val="F6F1F4"/>
          </a:solidFill>
          <a:ln w="635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3383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4A1F3D"/>
                </a:solidFill>
                <a:latin typeface="Arial"/>
              </a:rPr>
              <a:t>Big-device makers / Apple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5029200"/>
            <a:ext cx="34747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Mature sleep/weight tracking; could bundle follow-up Qs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8" y="5029200"/>
            <a:ext cx="3657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96F8A"/>
                </a:solidFill>
                <a:latin typeface="Arial"/>
              </a:rPr>
              <a:t>Horizontal data collection — not treatment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4A1F3D"/>
                </a:solidFill>
                <a:latin typeface="Arial"/>
              </a:rPr>
              <a:t>The device threat, answered: </a:t>
            </a:r>
            <a:r>
              <a:rPr sz="1300" b="0">
                <a:solidFill>
                  <a:srgbClr val="2B252A"/>
                </a:solidFill>
                <a:latin typeface="Arial"/>
              </a:rPr>
              <a:t>sensors and diaries are the collection layer — their data flows INTO our treatment loop. Glucometers didn’t kill diabetes-management; they created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UNIQUE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titration crisis doesn’t happen during the appointment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5156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“Cardiology always had follow-ups — iRhythm still built a billion-dollar company because </a:t>
            </a:r>
            <a:r>
              <a:rPr sz="1500" b="1">
                <a:solidFill>
                  <a:srgbClr val="C89B3C"/>
                </a:solidFill>
                <a:latin typeface="Arial"/>
              </a:rPr>
              <a:t>arrhythmias don’t happen in the clinic</a:t>
            </a:r>
            <a:r>
              <a:rPr sz="1500" b="0">
                <a:solidFill>
                  <a:srgbClr val="FFFFFF"/>
                </a:solidFill>
                <a:latin typeface="Arial"/>
              </a:rPr>
              <a:t>.” We are the ambulatory monitor for hormone therapy.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3602736" cy="141732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3236976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A1F3D"/>
                </a:solidFill>
                <a:latin typeface="Arial"/>
              </a:rPr>
              <a:t>Continuous, not point-sampled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55848"/>
            <a:ext cx="323697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2B252A"/>
                </a:solidFill>
                <a:latin typeface="Arial"/>
              </a:rPr>
              <a:t>We upgrade the input to the same visit — record, not recall.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697480"/>
            <a:ext cx="3602736" cy="141732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807208"/>
            <a:ext cx="3236976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A1F3D"/>
                </a:solidFill>
                <a:latin typeface="Arial"/>
              </a:rPr>
              <a:t>Proactive, not a passive inbox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355848"/>
            <a:ext cx="323697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2B252A"/>
                </a:solidFill>
                <a:latin typeface="Arial"/>
              </a:rPr>
              <a:t>The quitters are exactly the ones who never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697480"/>
            <a:ext cx="3602736" cy="141732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807208"/>
            <a:ext cx="3236976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A1F3D"/>
                </a:solidFill>
                <a:latin typeface="Arial"/>
              </a:rPr>
              <a:t>Covers the weeks 2–5 blind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355848"/>
            <a:ext cx="323697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2B252A"/>
                </a:solidFill>
                <a:latin typeface="Arial"/>
              </a:rPr>
              <a:t>We reach her before she quits — visits come too late.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61104"/>
            <a:ext cx="3602736" cy="141732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3236976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A1F3D"/>
                </a:solidFill>
                <a:latin typeface="Arial"/>
              </a:rPr>
              <a:t>A cross-patient interpretation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19472"/>
            <a:ext cx="323697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2B252A"/>
                </a:solidFill>
                <a:latin typeface="Arial"/>
              </a:rPr>
              <a:t>Day-level dose-aligned data no single clinic has. Copyable UI; un-copyable dataset.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4261104"/>
            <a:ext cx="3602736" cy="141732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4370832"/>
            <a:ext cx="3236976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A1F3D"/>
                </a:solidFill>
                <a:latin typeface="Arial"/>
              </a:rPr>
              <a:t>Monitoring made economic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919472"/>
            <a:ext cx="323697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2B252A"/>
                </a:solidFill>
                <a:latin typeface="Arial"/>
              </a:rPr>
              <a:t>Structured + billable → scales; a reactive inbox never does.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4261104"/>
            <a:ext cx="3602736" cy="141732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4370832"/>
            <a:ext cx="3236976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A1F3D"/>
                </a:solidFill>
                <a:latin typeface="Arial"/>
              </a:rPr>
              <a:t>Neutral &amp; portable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4919472"/>
            <a:ext cx="323697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2B252A"/>
                </a:solidFill>
                <a:latin typeface="Arial"/>
              </a:rPr>
              <a:t>Records follow the patient across GP / clinic / pharmacist.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Founder-led, advisor-backed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602736" cy="40233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47088" y="1783080"/>
            <a:ext cx="1005840" cy="1005840"/>
          </a:xfrm>
          <a:prstGeom prst="ellipse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60273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1F3D"/>
                </a:solidFill>
                <a:latin typeface="Arial"/>
              </a:rPr>
              <a:t>[Founder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3602736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Founder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314553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Based in Canada. Running the discovery: pharmacist, physician &amp; pharma-industry interviews. [1–2 lines of relevant background].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463040"/>
            <a:ext cx="3602736" cy="40233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40" y="1783080"/>
            <a:ext cx="1005840" cy="1005840"/>
          </a:xfrm>
          <a:prstGeom prst="ellipse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971800"/>
            <a:ext cx="360273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1F3D"/>
                </a:solidFill>
                <a:latin typeface="Arial"/>
              </a:rPr>
              <a:t>[Clinical advisor]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3429000"/>
            <a:ext cx="3602736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Menopause / OB-GYN advisor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977639"/>
            <a:ext cx="314553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NAMS-certified clinician to co-design the PRO instrument and red-flag protocol. [To confirm].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463040"/>
            <a:ext cx="3602736" cy="402336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8592" y="1783080"/>
            <a:ext cx="1005840" cy="1005840"/>
          </a:xfrm>
          <a:prstGeom prst="ellipse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2971800"/>
            <a:ext cx="360273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1F3D"/>
                </a:solidFill>
                <a:latin typeface="Arial"/>
              </a:rPr>
              <a:t>[Technical lead]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3429000"/>
            <a:ext cx="3602736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96F8A"/>
                </a:solidFill>
                <a:latin typeface="Arial"/>
              </a:rPr>
              <a:t>Product /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77639"/>
            <a:ext cx="314553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Owns the SMS-first check-in, one-page clinician summary and data pipeline. [To recruit].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A1F3D"/>
                </a:solidFill>
                <a:latin typeface="Arial"/>
              </a:rPr>
              <a:t>Advisors sought: </a:t>
            </a:r>
            <a:r>
              <a:rPr sz="1300" b="0">
                <a:solidFill>
                  <a:srgbClr val="6B6368"/>
                </a:solidFill>
                <a:latin typeface="Arial"/>
              </a:rPr>
              <a:t>a health-economics / reimbursement advisor (RTM + Canadian MedsCheck) and a pharma medical-affairs contact.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BUSINESS MODEL · LEAN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How the pieces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2212848" cy="374904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2212848" cy="292608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207568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2"/>
            <a:ext cx="2029968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3–6 mo titration black box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~50% quit yr 1 (side-effects)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Clinicians dose on faulty recall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No dose↔response record exists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1325880"/>
            <a:ext cx="2212848" cy="233172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1325880"/>
            <a:ext cx="2212848" cy="292608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1325880"/>
            <a:ext cx="207568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673352"/>
            <a:ext cx="202996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30-sec daily check-in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Expected-band feedback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1-page clinician summary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Red-flag triage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4336" y="1325880"/>
            <a:ext cx="2212848" cy="374904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74336" y="1325880"/>
            <a:ext cx="2212848" cy="292608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1325880"/>
            <a:ext cx="207568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UVP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1673352"/>
            <a:ext cx="2029968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“Know if you’re on track — before you quit”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The measurement layer for hormone therapy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iRhythm for titration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87184" y="1325880"/>
            <a:ext cx="2212848" cy="233172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87184" y="1325880"/>
            <a:ext cx="2212848" cy="292608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1325880"/>
            <a:ext cx="207568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UNFAIR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1673352"/>
            <a:ext cx="202996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Cross-clinic day-level dose-symptom dataset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Guideline-aligned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Provider-neutral &amp; portable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00032" y="1325880"/>
            <a:ext cx="2212848" cy="374904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00032" y="1325880"/>
            <a:ext cx="2212848" cy="292608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1472" y="1325880"/>
            <a:ext cx="207568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CUSTOMER SEGMENTS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1673352"/>
            <a:ext cx="2029968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Users: women starting HRT / menopause meds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Beachhead: month 0–6, esp. Canada w/o family doctor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Payers: pharma, clinics, RTM, benefits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1488" y="3703320"/>
            <a:ext cx="2212848" cy="137160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61488" y="3703320"/>
            <a:ext cx="2212848" cy="292608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3703320"/>
            <a:ext cx="207568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4050792"/>
            <a:ext cx="20299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Embed in virtual clinics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Pharmacist channel (CA)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DTC landing page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Pharma partnerships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87184" y="3703320"/>
            <a:ext cx="2212848" cy="137160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87184" y="3703320"/>
            <a:ext cx="2212848" cy="292608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4" y="3703320"/>
            <a:ext cx="207568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COST 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8624" y="4050792"/>
            <a:ext cx="20299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Product &amp; engineering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Clinical / regulatory (SaMD)</a:t>
            </a: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50">
                <a:solidFill>
                  <a:srgbClr val="2B252A"/>
                </a:solidFill>
                <a:latin typeface="Arial"/>
              </a:rPr>
              <a:t>– Data infra + pilot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4471416" cy="123444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120640"/>
            <a:ext cx="4471416" cy="292608"/>
          </a:xfrm>
          <a:prstGeom prst="rect">
            <a:avLst/>
          </a:prstGeom>
          <a:solidFill>
            <a:srgbClr val="6E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120640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KEY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486400"/>
            <a:ext cx="4242816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B252A"/>
                </a:solidFill>
                <a:latin typeface="Arial"/>
              </a:rPr>
              <a:t>– 8-wk check-in completion &gt;60%   – 6-mo treatment-retention lift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B252A"/>
                </a:solidFill>
                <a:latin typeface="Arial"/>
              </a:rPr>
              <a:t>– titration rounds reduced   – RTM $ captured / patient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32904" y="5120640"/>
            <a:ext cx="4425696" cy="1234440"/>
          </a:xfrm>
          <a:prstGeom prst="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32904" y="5120640"/>
            <a:ext cx="4425696" cy="2926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344" y="5120640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REVENUE STREAMS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5486400"/>
            <a:ext cx="4242816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B252A"/>
                </a:solidFill>
                <a:latin typeface="Arial"/>
              </a:rPr>
              <a:t>– Pharma: adherence + RWE contracts ($50k–5M)   – RTM billing share (US, ~$94/pt/mo)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B252A"/>
                </a:solidFill>
                <a:latin typeface="Arial"/>
              </a:rPr>
              <a:t>– Clinic subscription / DTC assist ($10–15/mo)   – Canada: benefits + MedsCheck-linked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Smoke-test to measure real demand &amp;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8521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852160" cy="457200"/>
          </a:xfrm>
          <a:prstGeom prst="roundRect">
            <a:avLst/>
          </a:prstGeom>
          <a:solidFill>
            <a:srgbClr val="F6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508760"/>
            <a:ext cx="146304" cy="146304"/>
          </a:xfrm>
          <a:prstGeom prst="ellipse">
            <a:avLst/>
          </a:prstGeom>
          <a:solidFill>
            <a:srgbClr val="E3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1508760"/>
            <a:ext cx="146304" cy="146304"/>
          </a:xfrm>
          <a:prstGeom prst="ellipse">
            <a:avLst/>
          </a:prstGeom>
          <a:solidFill>
            <a:srgbClr val="E3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3584" y="1508760"/>
            <a:ext cx="146304" cy="146304"/>
          </a:xfrm>
          <a:prstGeom prst="ellipse">
            <a:avLst/>
          </a:prstGeom>
          <a:solidFill>
            <a:srgbClr val="E3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417320"/>
            <a:ext cx="4389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368"/>
                </a:solidFill>
                <a:latin typeface="Arial"/>
              </a:rPr>
              <a:t>  attune.health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057400"/>
            <a:ext cx="5303520" cy="1371600"/>
          </a:xfrm>
          <a:prstGeom prst="round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194560"/>
            <a:ext cx="493776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Started HRT? Know if you’re on track 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C89B3C"/>
                </a:solidFill>
                <a:latin typeface="Arial"/>
              </a:rPr>
              <a:t>before you give up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B252A"/>
                </a:solidFill>
                <a:latin typeface="Arial"/>
              </a:rPr>
              <a:t>A 30-second daily check-in tells you what your symptoms mean, and gives your doctor the full picture.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526280"/>
            <a:ext cx="2743200" cy="548640"/>
          </a:xfrm>
          <a:prstGeom prst="round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80"/>
            <a:ext cx="27432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Get early access — $12/mo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368"/>
                </a:solidFill>
                <a:latin typeface="Arial"/>
              </a:rPr>
              <a:t>Enter email  ▸  </a:t>
            </a:r>
            <a:r>
              <a:rPr sz="1200" b="1">
                <a:solidFill>
                  <a:srgbClr val="4A1F3D"/>
                </a:solidFill>
                <a:latin typeface="Arial"/>
              </a:rPr>
              <a:t>[waitlist]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55448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4A1F3D"/>
                </a:solidFill>
                <a:latin typeface="Arial"/>
              </a:rPr>
              <a:t>What the page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0">
                <a:solidFill>
                  <a:srgbClr val="2B252A"/>
                </a:solidFill>
                <a:latin typeface="Arial"/>
              </a:rPr>
              <a:t>Headline demand: visit → email conversion rate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1">
                <a:solidFill>
                  <a:srgbClr val="4A1F3D"/>
                </a:solidFill>
                <a:latin typeface="Arial"/>
              </a:rPr>
              <a:t>Price signal: </a:t>
            </a:r>
            <a:r>
              <a:rPr sz="1350" b="0">
                <a:solidFill>
                  <a:srgbClr val="2B252A"/>
                </a:solidFill>
                <a:latin typeface="Arial"/>
              </a:rPr>
              <a:t>$12/mo shown up-front to filter for willingness to pay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0">
                <a:solidFill>
                  <a:srgbClr val="2B252A"/>
                </a:solidFill>
                <a:latin typeface="Arial"/>
              </a:rPr>
              <a:t>Message A/B: “on track before you quit” vs “feel like yourself again”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0">
                <a:solidFill>
                  <a:srgbClr val="2B252A"/>
                </a:solidFill>
                <a:latin typeface="Arial"/>
              </a:rPr>
              <a:t>Segment capture: newly-started vs considering; Canada vs US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C96F8A"/>
                </a:solidFill>
                <a:latin typeface="Arial"/>
              </a:rPr>
              <a:t>•  </a:t>
            </a:r>
            <a:r>
              <a:rPr sz="1350" b="1">
                <a:solidFill>
                  <a:srgbClr val="4A1F3D"/>
                </a:solidFill>
                <a:latin typeface="Arial"/>
              </a:rPr>
              <a:t>Output: </a:t>
            </a:r>
            <a:r>
              <a:rPr sz="1350" b="0">
                <a:solidFill>
                  <a:srgbClr val="2B252A"/>
                </a:solidFill>
                <a:latin typeface="Arial"/>
              </a:rPr>
              <a:t>a real conversion number for Milestone #3 — the hardest slide to fake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394960"/>
            <a:ext cx="4937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C96F8A"/>
                </a:solidFill>
                <a:latin typeface="Arial"/>
              </a:rPr>
              <a:t>Status: </a:t>
            </a:r>
            <a:r>
              <a:rPr sz="1250" b="0" i="1">
                <a:solidFill>
                  <a:srgbClr val="6B6368"/>
                </a:solidFill>
                <a:latin typeface="Arial"/>
              </a:rPr>
              <a:t>copy + design ready; live smoke-test with small paid traffic is the next build. [Insert live URL / QR before the talk].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DISCOVERY INTERVIEWS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 conversations so far — pain confirmed, two buyer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146304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6F8A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368"/>
                </a:solidFill>
                <a:latin typeface="Arial"/>
              </a:rPr>
              <a:t>Attune</a:t>
            </a:r>
            <a:r>
              <a:rPr sz="900" b="0">
                <a:solidFill>
                  <a:srgbClr val="6B6368"/>
                </a:solidFill>
                <a:latin typeface="Arial"/>
              </a:rPr>
              <a:t>  ·  the measurement layer for hormone therapy  ·  Milestone #2  ·  2026-07-03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1F3D"/>
                </a:solidFill>
                <a:latin typeface="Arial"/>
              </a:rPr>
              <a:t>Interviews conducted to date: </a:t>
            </a:r>
            <a:r>
              <a:rPr sz="1500" b="1">
                <a:solidFill>
                  <a:srgbClr val="C96F8A"/>
                </a:solidFill>
                <a:latin typeface="Arial"/>
              </a:rPr>
              <a:t>3</a:t>
            </a:r>
            <a:r>
              <a:rPr sz="1400" b="0">
                <a:solidFill>
                  <a:srgbClr val="2B252A"/>
                </a:solidFill>
                <a:latin typeface="Arial"/>
              </a:rPr>
              <a:t>  (1 formal + 2 expert conversations).  Round of 19 planned: 5 pharmacists · 5 prescribers · 10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3602736" cy="411480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02736" cy="64008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3328416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1 · Community pharmacist (Canada)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3273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“Compliance is an issue for us.” — named it a real problem, unprompted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Endorsed continuous tracking + patient education as the top levers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Framed it as a chronic-medication need (fits our titration-season design)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Signal: pharmacists can adapt/renew Rx in 7 CA provinces → possible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874519"/>
            <a:ext cx="3602736" cy="411480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874519"/>
            <a:ext cx="3602736" cy="64008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874519"/>
            <a:ext cx="3328416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2 · ENT physician (peer)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651760"/>
            <a:ext cx="3273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Big-device tracking (sleep, weight) is already mature &amp; trusted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Suggested folding follow-up questions into that tracking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Read both ways: validates the mechanism AND flags the device-maker threat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Our answer: they’re the collection layer; we’re the treatment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874519"/>
            <a:ext cx="3602736" cy="4114800"/>
          </a:xfrm>
          <a:prstGeom prst="roundRect">
            <a:avLst/>
          </a:prstGeom>
          <a:solidFill>
            <a:srgbClr val="FBF8FA"/>
          </a:solidFill>
          <a:ln w="12700">
            <a:solidFill>
              <a:srgbClr val="E3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874519"/>
            <a:ext cx="3602736" cy="640080"/>
          </a:xfrm>
          <a:prstGeom prst="rect">
            <a:avLst/>
          </a:prstGeom>
          <a:solidFill>
            <a:srgbClr val="6E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874519"/>
            <a:ext cx="3328416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3 · Health-industry contact (US conf, last 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651760"/>
            <a:ext cx="3273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Reported: pharma actively wants post-prescription real-world data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Directly validates our primary buyer (Astellas’ OPTION-VMS proves the spend)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Turns the pharma line from hypothesis → corroborated signal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6F8A"/>
                </a:solidFill>
                <a:latin typeface="Arial"/>
              </a:rPr>
              <a:t>•  </a:t>
            </a:r>
            <a:r>
              <a:rPr sz="1150" b="0">
                <a:solidFill>
                  <a:srgbClr val="2B252A"/>
                </a:solidFill>
                <a:latin typeface="Arial"/>
              </a:rPr>
              <a:t>Next: get a medical-affairs intro for price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4A1F3D"/>
                </a:solidFill>
                <a:latin typeface="Arial"/>
              </a:rPr>
              <a:t>Honest read: </a:t>
            </a:r>
            <a:r>
              <a:rPr sz="1200" b="0" i="1">
                <a:solidFill>
                  <a:srgbClr val="6B6368"/>
                </a:solidFill>
                <a:latin typeface="Arial"/>
              </a:rPr>
              <a:t>small n, some primed questions. Next round asks only about past behaviour (Mom Test) and probes willingness to pay.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38100"/>
          </a:xfrm>
          <a:prstGeom prst="rect">
            <a:avLst/>
          </a:prstGeom>
          <a:solidFill>
            <a:srgbClr val="C9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96F8A"/>
                </a:solidFill>
                <a:latin typeface="Arial"/>
              </a:rPr>
              <a:t>The one line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Half of women quit hormone therapy in year one because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no one records what happens between prescriptions. We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9B3C"/>
                </a:solidFill>
                <a:latin typeface="Arial"/>
              </a:rPr>
              <a:t>Next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6F8A"/>
                </a:solidFill>
                <a:latin typeface="Arial"/>
              </a:rPr>
              <a:t>•  </a:t>
            </a:r>
            <a:r>
              <a:rPr sz="1500" b="1">
                <a:solidFill>
                  <a:srgbClr val="C96F8A"/>
                </a:solidFill>
                <a:latin typeface="Arial"/>
              </a:rPr>
              <a:t>Validation: </a:t>
            </a:r>
            <a:r>
              <a:rPr sz="1500" b="0">
                <a:solidFill>
                  <a:srgbClr val="FFFFFF"/>
                </a:solidFill>
                <a:latin typeface="Arial"/>
              </a:rPr>
              <a:t>19 behaviour-based interviews + live landing-page smoke test (real conversion number)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6F8A"/>
                </a:solidFill>
                <a:latin typeface="Arial"/>
              </a:rPr>
              <a:t>•  </a:t>
            </a:r>
            <a:r>
              <a:rPr sz="1500" b="1">
                <a:solidFill>
                  <a:srgbClr val="C96F8A"/>
                </a:solidFill>
                <a:latin typeface="Arial"/>
              </a:rPr>
              <a:t>Data: </a:t>
            </a:r>
            <a:r>
              <a:rPr sz="1500" b="0">
                <a:solidFill>
                  <a:srgbClr val="FFFFFF"/>
                </a:solidFill>
                <a:latin typeface="Arial"/>
              </a:rPr>
              <a:t>buy a claims slice to nail annual new-starts and titration-change rates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6F8A"/>
                </a:solidFill>
                <a:latin typeface="Arial"/>
              </a:rPr>
              <a:t>•  </a:t>
            </a:r>
            <a:r>
              <a:rPr sz="1500" b="1">
                <a:solidFill>
                  <a:srgbClr val="C96F8A"/>
                </a:solidFill>
                <a:latin typeface="Arial"/>
              </a:rPr>
              <a:t>Buyers: </a:t>
            </a:r>
            <a:r>
              <a:rPr sz="1500" b="0">
                <a:solidFill>
                  <a:srgbClr val="FFFFFF"/>
                </a:solidFill>
                <a:latin typeface="Arial"/>
              </a:rPr>
              <a:t>one pharma medical-affairs intro (price discovery) + one clinic design partner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6F8A"/>
                </a:solidFill>
                <a:latin typeface="Arial"/>
              </a:rPr>
              <a:t>•  </a:t>
            </a:r>
            <a:r>
              <a:rPr sz="1500" b="1">
                <a:solidFill>
                  <a:srgbClr val="C96F8A"/>
                </a:solidFill>
                <a:latin typeface="Arial"/>
              </a:rPr>
              <a:t>Compliance: </a:t>
            </a:r>
            <a:r>
              <a:rPr sz="1500" b="0">
                <a:solidFill>
                  <a:srgbClr val="FFFFFF"/>
                </a:solidFill>
                <a:latin typeface="Arial"/>
              </a:rPr>
              <a:t>a $5–10k SaMD/regulatory scoping call on the red-flag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Attune</a:t>
            </a:r>
            <a:r>
              <a:rPr sz="1700" b="0">
                <a:solidFill>
                  <a:srgbClr val="D9C7D2"/>
                </a:solidFill>
                <a:latin typeface="Arial"/>
              </a:rPr>
              <a:t>  —  turning “dose by feel” into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