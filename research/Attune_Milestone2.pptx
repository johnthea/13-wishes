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(~80s):</a:t>
            </a:r>
          </a:p>
          <a:p>
            <a:r>
              <a:t>Every year, about a million women in the US and Canada start hormone therapy for menopause — and perimenopause is the fastest-growing segment. The clinical guideline for this therapy is explicit: adjust the dose by her symptoms, not blood levels. But no one — no system — records those symptoms. So she enters three to six months of trial and error. Each dose change takes four to six weeks to judge. In those weeks she can't tell whether worsening anxiety means too little estrogen or too much, and late-night searches return horror stories. Her doctor decides the next step from what she can recall in a fifteen-minute visit. The result: her symptoms will last a median of 7.4 years, but half of women abandon the therapy within one. And to be precise — informed discontinuation is a good outcome; the problem is that 62% stop abruptly, against medical advice, in an information vacuum — and 84% of them relapse. Then they spend thirteen billion dollars a year on supplements that don't work. The problem isn't the medicine. Titration is a craft run on recall. It should be a data problem.</a:t>
            </a:r>
          </a:p>
          <a:p/>
          <a:p>
            <a:r>
              <a:t>Q&amp;A AMMO:</a:t>
            </a:r>
          </a:p>
          <a:p>
            <a:r>
              <a:t>- ~1M/yr: MY ESTIMATE (say so proactively). Logic: ~2.5-3M current US users (JAMA: ~5% of postmenopausal women) x ~50% first-year discontinuation, with a growing stock — a 10-20k/month inflow could not sustain the pool. Validating with a claims-data slice. Supporting: Epic Research +86% Rx since 2021; Truveta: 1 in 20 women 45-54 hold an estrogen Rx.</a:t>
            </a:r>
          </a:p>
          <a:p>
            <a:r>
              <a:t>- Dose by feel: NAMS 2022 Hormone Therapy Position Statement; ACOG concurs. Hormone levels fluctuate too much to guide dosing.</a:t>
            </a:r>
          </a:p>
          <a:p>
            <a:r>
              <a:t>- 3-6 months / 4-6 weeks: clinical consensus; full effect up to 12 weeks.</a:t>
            </a:r>
          </a:p>
          <a:p>
            <a:r>
              <a:t>- 7.4 years: SWAN study, JAMA Internal Medicine 2015, n=1,449 (Black women: median 10.1 yrs). If challenged 'symptom duration is not treatment duration': correct — the point is symptoms run in YEARS, abandonment happens in MONTHS, and 62% of it is against medical advice.</a:t>
            </a:r>
          </a:p>
          <a:p>
            <a:r>
              <a:t>- Half quit yr 1: PubMed 10614674 — 48% (younger) to 62% (older); side-effects are the top stated reason (64-87%). Pharmacy DB: only 54-69% still on the ORIGINAL regimen at 1 yr.</a:t>
            </a:r>
          </a:p>
          <a:p>
            <a:r>
              <a:t>- 62% abrupt / 84% relapse: BJOG 2025 systematic review (69 studies).</a:t>
            </a:r>
          </a:p>
          <a:p>
            <a:r>
              <a:t>- $13B: AARP survey (&gt;$10B of it on non-medical products). +45%: actuarial analysis cited by Elektra Health.</a:t>
            </a:r>
          </a:p>
          <a:p>
            <a:r>
              <a:t>ETHICS FRAME (say aloud, esp. to women's-health investors): our goal is not retention maximisation — informed quitting is a good outcome; panic quitting against advice is the system failure we target.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28800"/>
            <a:ext cx="10515600" cy="914400"/>
          </a:xfrm>
          <a:prstGeom prst="rect">
            <a:avLst/>
          </a:prstGeom>
          <a:noFill/>
        </p:spPr>
        <p:txBody>
          <a:bodyPr wrap="square" anchor="t" lIns="25400" rIns="25400" tIns="25400" bIns="25400">
            <a:spAutoFit/>
          </a:bodyPr>
          <a:lstStyle/>
          <a:p>
            <a:pPr algn="l">
              <a:lnSpc>
                <a:spcPct val="100000"/>
              </a:lnSpc>
              <a:spcAft>
                <a:spcPts val="400"/>
              </a:spcAft>
            </a:pPr>
            <a:r>
              <a:rPr sz="5400" b="1">
                <a:solidFill>
                  <a:srgbClr val="FFFFFF"/>
                </a:solidFill>
                <a:latin typeface="Arial"/>
              </a:rPr>
              <a:t>Attune</a:t>
            </a:r>
            <a:r>
              <a:rPr sz="5400" b="0">
                <a:solidFill>
                  <a:srgbClr val="FFFFFF"/>
                </a:solidFill>
                <a:latin typeface="Arial"/>
              </a:rPr>
              <a:t>   </a:t>
            </a:r>
            <a:r>
              <a:rPr sz="1600" b="0" i="1">
                <a:solidFill>
                  <a:srgbClr val="C96F8A"/>
                </a:solidFill>
                <a:latin typeface="Arial"/>
              </a:rPr>
              <a:t>[working name]</a:t>
            </a:r>
          </a:p>
        </p:txBody>
      </p:sp>
      <p:sp>
        <p:nvSpPr>
          <p:cNvPr id="5" name="TextBox 4"/>
          <p:cNvSpPr txBox="1"/>
          <p:nvPr/>
        </p:nvSpPr>
        <p:spPr>
          <a:xfrm>
            <a:off x="868680" y="2880360"/>
            <a:ext cx="10058400" cy="1097280"/>
          </a:xfrm>
          <a:prstGeom prst="rect">
            <a:avLst/>
          </a:prstGeom>
          <a:noFill/>
        </p:spPr>
        <p:txBody>
          <a:bodyPr wrap="square" anchor="t" lIns="25400" rIns="25400" tIns="25400" bIns="25400">
            <a:spAutoFit/>
          </a:bodyPr>
          <a:lstStyle/>
          <a:p>
            <a:pPr algn="l">
              <a:lnSpc>
                <a:spcPct val="110000"/>
              </a:lnSpc>
              <a:spcAft>
                <a:spcPts val="400"/>
              </a:spcAft>
            </a:pPr>
            <a:r>
              <a:rPr sz="2400" b="0">
                <a:solidFill>
                  <a:srgbClr val="C96F8A"/>
                </a:solidFill>
                <a:latin typeface="Arial"/>
              </a:rPr>
              <a:t>The measurement layer for hormone therapy —</a:t>
            </a:r>
          </a:p>
          <a:p>
            <a:pPr algn="l">
              <a:lnSpc>
                <a:spcPct val="110000"/>
              </a:lnSpc>
              <a:spcAft>
                <a:spcPts val="400"/>
              </a:spcAft>
            </a:pPr>
            <a:r>
              <a:rPr sz="2400" b="1">
                <a:solidFill>
                  <a:srgbClr val="FFFFFF"/>
                </a:solidFill>
                <a:latin typeface="Arial"/>
              </a:rPr>
              <a:t>turning "dose by feel" into engineering.</a:t>
            </a:r>
          </a:p>
        </p:txBody>
      </p:sp>
      <p:sp>
        <p:nvSpPr>
          <p:cNvPr id="6" name="TextBox 5"/>
          <p:cNvSpPr txBox="1"/>
          <p:nvPr/>
        </p:nvSpPr>
        <p:spPr>
          <a:xfrm>
            <a:off x="868680" y="4480560"/>
            <a:ext cx="10515600" cy="1463040"/>
          </a:xfrm>
          <a:prstGeom prst="rect">
            <a:avLst/>
          </a:prstGeom>
          <a:noFill/>
        </p:spPr>
        <p:txBody>
          <a:bodyPr wrap="square" anchor="t" lIns="25400" rIns="25400" tIns="25400" bIns="25400">
            <a:spAutoFit/>
          </a:bodyPr>
          <a:lstStyle/>
          <a:p>
            <a:pPr algn="l">
              <a:lnSpc>
                <a:spcPct val="130000"/>
              </a:lnSpc>
              <a:spcAft>
                <a:spcPts val="400"/>
              </a:spcAft>
            </a:pPr>
            <a:r>
              <a:rPr sz="1500" b="0">
                <a:solidFill>
                  <a:srgbClr val="FFFFFF"/>
                </a:solidFill>
                <a:latin typeface="Arial"/>
              </a:rPr>
              <a:t>Menopause &amp; perimenopause hormone therapy · US + Canada</a:t>
            </a:r>
          </a:p>
          <a:p>
            <a:pPr algn="l">
              <a:lnSpc>
                <a:spcPct val="130000"/>
              </a:lnSpc>
              <a:spcAft>
                <a:spcPts val="400"/>
              </a:spcAft>
            </a:pPr>
            <a:r>
              <a:rPr sz="1400" b="1">
                <a:solidFill>
                  <a:srgbClr val="C96F8A"/>
                </a:solidFill>
                <a:latin typeface="Arial"/>
              </a:rPr>
              <a:t>Milestone Presentation #2</a:t>
            </a:r>
            <a:r>
              <a:rPr sz="1400" b="0">
                <a:solidFill>
                  <a:srgbClr val="D9C7D2"/>
                </a:solidFill>
                <a:latin typeface="Arial"/>
              </a:rPr>
              <a:t>     |     Discovery-stage venture</a:t>
            </a:r>
          </a:p>
          <a:p>
            <a:pPr algn="l">
              <a:lnSpc>
                <a:spcPct val="130000"/>
              </a:lnSpc>
              <a:spcAft>
                <a:spcPts val="400"/>
              </a:spcAft>
            </a:pPr>
            <a:r>
              <a:rPr sz="1200" b="0">
                <a:solidFill>
                  <a:srgbClr val="C9B5C2"/>
                </a:solidFill>
                <a:latin typeface="Arial"/>
              </a:rPr>
              <a:t>Team: [Founder name] · [advisors]        2026-07-03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PROBLEM</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A therapy dosed "by feel" — and no one records the feeling</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02</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ectangle 7"/>
          <p:cNvSpPr/>
          <p:nvPr/>
        </p:nvSpPr>
        <p:spPr>
          <a:xfrm>
            <a:off x="548640" y="1325880"/>
            <a:ext cx="11064240" cy="914400"/>
          </a:xfrm>
          <a:prstGeom prst="rect">
            <a:avLst/>
          </a:prstGeom>
          <a:solidFill>
            <a:srgbClr val="F6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25880"/>
            <a:ext cx="3566160" cy="914400"/>
          </a:xfrm>
          <a:prstGeom prst="rect">
            <a:avLst/>
          </a:prstGeom>
          <a:noFill/>
        </p:spPr>
        <p:txBody>
          <a:bodyPr wrap="square" anchor="ctr" lIns="25400" rIns="25400" tIns="25400" bIns="25400">
            <a:spAutoFit/>
          </a:bodyPr>
          <a:lstStyle/>
          <a:p>
            <a:pPr algn="l">
              <a:lnSpc>
                <a:spcPct val="100000"/>
              </a:lnSpc>
              <a:spcAft>
                <a:spcPts val="400"/>
              </a:spcAft>
            </a:pPr>
            <a:r>
              <a:rPr sz="2000" b="1">
                <a:solidFill>
                  <a:srgbClr val="4A1F3D"/>
                </a:solidFill>
                <a:latin typeface="Arial"/>
              </a:rPr>
              <a:t>~1,000,000 / yr</a:t>
            </a:r>
          </a:p>
        </p:txBody>
      </p:sp>
      <p:sp>
        <p:nvSpPr>
          <p:cNvPr id="10" name="TextBox 9"/>
          <p:cNvSpPr txBox="1"/>
          <p:nvPr/>
        </p:nvSpPr>
        <p:spPr>
          <a:xfrm>
            <a:off x="4480560" y="1325880"/>
            <a:ext cx="6949440" cy="914400"/>
          </a:xfrm>
          <a:prstGeom prst="rect">
            <a:avLst/>
          </a:prstGeom>
          <a:noFill/>
        </p:spPr>
        <p:txBody>
          <a:bodyPr wrap="square" anchor="ctr" lIns="25400" rIns="25400" tIns="25400" bIns="25400">
            <a:spAutoFit/>
          </a:bodyPr>
          <a:lstStyle/>
          <a:p>
            <a:pPr algn="l">
              <a:lnSpc>
                <a:spcPct val="105000"/>
              </a:lnSpc>
              <a:spcAft>
                <a:spcPts val="400"/>
              </a:spcAft>
            </a:pPr>
            <a:r>
              <a:rPr sz="1350" b="0">
                <a:solidFill>
                  <a:srgbClr val="2B252A"/>
                </a:solidFill>
                <a:latin typeface="Arial"/>
              </a:rPr>
              <a:t>women start menopause hormone therapy in the US + Canada (est.) — perimenopause is the fastest-growing segment</a:t>
            </a:r>
          </a:p>
        </p:txBody>
      </p:sp>
      <p:sp>
        <p:nvSpPr>
          <p:cNvPr id="11" name="TextBox 10"/>
          <p:cNvSpPr txBox="1"/>
          <p:nvPr/>
        </p:nvSpPr>
        <p:spPr>
          <a:xfrm>
            <a:off x="777240" y="2295144"/>
            <a:ext cx="3566160" cy="914400"/>
          </a:xfrm>
          <a:prstGeom prst="rect">
            <a:avLst/>
          </a:prstGeom>
          <a:noFill/>
        </p:spPr>
        <p:txBody>
          <a:bodyPr wrap="square" anchor="ctr" lIns="25400" rIns="25400" tIns="25400" bIns="25400">
            <a:spAutoFit/>
          </a:bodyPr>
          <a:lstStyle/>
          <a:p>
            <a:pPr algn="l">
              <a:lnSpc>
                <a:spcPct val="100000"/>
              </a:lnSpc>
              <a:spcAft>
                <a:spcPts val="400"/>
              </a:spcAft>
            </a:pPr>
            <a:r>
              <a:rPr sz="2000" b="1">
                <a:solidFill>
                  <a:srgbClr val="4A1F3D"/>
                </a:solidFill>
                <a:latin typeface="Arial"/>
              </a:rPr>
              <a:t>"Dose by feel."</a:t>
            </a:r>
          </a:p>
        </p:txBody>
      </p:sp>
      <p:sp>
        <p:nvSpPr>
          <p:cNvPr id="12" name="TextBox 11"/>
          <p:cNvSpPr txBox="1"/>
          <p:nvPr/>
        </p:nvSpPr>
        <p:spPr>
          <a:xfrm>
            <a:off x="4480560" y="2295144"/>
            <a:ext cx="6949440" cy="914400"/>
          </a:xfrm>
          <a:prstGeom prst="rect">
            <a:avLst/>
          </a:prstGeom>
          <a:noFill/>
        </p:spPr>
        <p:txBody>
          <a:bodyPr wrap="square" anchor="ctr" lIns="25400" rIns="25400" tIns="25400" bIns="25400">
            <a:spAutoFit/>
          </a:bodyPr>
          <a:lstStyle/>
          <a:p>
            <a:pPr algn="l">
              <a:lnSpc>
                <a:spcPct val="105000"/>
              </a:lnSpc>
              <a:spcAft>
                <a:spcPts val="400"/>
              </a:spcAft>
            </a:pPr>
            <a:r>
              <a:rPr sz="1350" b="0">
                <a:solidFill>
                  <a:srgbClr val="2B252A"/>
                </a:solidFill>
                <a:latin typeface="Arial"/>
              </a:rPr>
              <a:t>NAMS/ACOG guidelines: titrate by her symptoms, not blood levels — yet no system records those symptoms</a:t>
            </a:r>
          </a:p>
        </p:txBody>
      </p:sp>
      <p:sp>
        <p:nvSpPr>
          <p:cNvPr id="13" name="Rectangle 12"/>
          <p:cNvSpPr/>
          <p:nvPr/>
        </p:nvSpPr>
        <p:spPr>
          <a:xfrm>
            <a:off x="548640" y="3264408"/>
            <a:ext cx="11064240" cy="914400"/>
          </a:xfrm>
          <a:prstGeom prst="rect">
            <a:avLst/>
          </a:prstGeom>
          <a:solidFill>
            <a:srgbClr val="F6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64408"/>
            <a:ext cx="3566160" cy="914400"/>
          </a:xfrm>
          <a:prstGeom prst="rect">
            <a:avLst/>
          </a:prstGeom>
          <a:noFill/>
        </p:spPr>
        <p:txBody>
          <a:bodyPr wrap="square" anchor="ctr" lIns="25400" rIns="25400" tIns="25400" bIns="25400">
            <a:spAutoFit/>
          </a:bodyPr>
          <a:lstStyle/>
          <a:p>
            <a:pPr algn="l">
              <a:lnSpc>
                <a:spcPct val="100000"/>
              </a:lnSpc>
              <a:spcAft>
                <a:spcPts val="400"/>
              </a:spcAft>
            </a:pPr>
            <a:r>
              <a:rPr sz="2000" b="1">
                <a:solidFill>
                  <a:srgbClr val="4A1F3D"/>
                </a:solidFill>
                <a:latin typeface="Arial"/>
              </a:rPr>
              <a:t>3–6 months of trial &amp; error</a:t>
            </a:r>
          </a:p>
        </p:txBody>
      </p:sp>
      <p:sp>
        <p:nvSpPr>
          <p:cNvPr id="15" name="TextBox 14"/>
          <p:cNvSpPr txBox="1"/>
          <p:nvPr/>
        </p:nvSpPr>
        <p:spPr>
          <a:xfrm>
            <a:off x="4480560" y="3264408"/>
            <a:ext cx="6949440" cy="914400"/>
          </a:xfrm>
          <a:prstGeom prst="rect">
            <a:avLst/>
          </a:prstGeom>
          <a:noFill/>
        </p:spPr>
        <p:txBody>
          <a:bodyPr wrap="square" anchor="ctr" lIns="25400" rIns="25400" tIns="25400" bIns="25400">
            <a:spAutoFit/>
          </a:bodyPr>
          <a:lstStyle/>
          <a:p>
            <a:pPr algn="l">
              <a:lnSpc>
                <a:spcPct val="105000"/>
              </a:lnSpc>
              <a:spcAft>
                <a:spcPts val="400"/>
              </a:spcAft>
            </a:pPr>
            <a:r>
              <a:rPr sz="1350" b="0">
                <a:solidFill>
                  <a:srgbClr val="2B252A"/>
                </a:solidFill>
                <a:latin typeface="Arial"/>
              </a:rPr>
              <a:t>each dose change takes 4–6 weeks to judge; her doctor re-doses from a 15-minute recall</a:t>
            </a:r>
          </a:p>
        </p:txBody>
      </p:sp>
      <p:sp>
        <p:nvSpPr>
          <p:cNvPr id="16" name="TextBox 15"/>
          <p:cNvSpPr txBox="1"/>
          <p:nvPr/>
        </p:nvSpPr>
        <p:spPr>
          <a:xfrm>
            <a:off x="777240" y="4233672"/>
            <a:ext cx="3566160" cy="914400"/>
          </a:xfrm>
          <a:prstGeom prst="rect">
            <a:avLst/>
          </a:prstGeom>
          <a:noFill/>
        </p:spPr>
        <p:txBody>
          <a:bodyPr wrap="square" anchor="ctr" lIns="25400" rIns="25400" tIns="25400" bIns="25400">
            <a:spAutoFit/>
          </a:bodyPr>
          <a:lstStyle/>
          <a:p>
            <a:pPr algn="l">
              <a:lnSpc>
                <a:spcPct val="100000"/>
              </a:lnSpc>
              <a:spcAft>
                <a:spcPts val="400"/>
              </a:spcAft>
            </a:pPr>
            <a:r>
              <a:rPr sz="2000" b="1">
                <a:solidFill>
                  <a:srgbClr val="C96F8A"/>
                </a:solidFill>
                <a:latin typeface="Arial"/>
              </a:rPr>
              <a:t>7.4 yrs  vs  1 yr</a:t>
            </a:r>
          </a:p>
        </p:txBody>
      </p:sp>
      <p:sp>
        <p:nvSpPr>
          <p:cNvPr id="17" name="TextBox 16"/>
          <p:cNvSpPr txBox="1"/>
          <p:nvPr/>
        </p:nvSpPr>
        <p:spPr>
          <a:xfrm>
            <a:off x="4480560" y="4233672"/>
            <a:ext cx="6949440" cy="914400"/>
          </a:xfrm>
          <a:prstGeom prst="rect">
            <a:avLst/>
          </a:prstGeom>
          <a:noFill/>
        </p:spPr>
        <p:txBody>
          <a:bodyPr wrap="square" anchor="ctr" lIns="25400" rIns="25400" tIns="25400" bIns="25400">
            <a:spAutoFit/>
          </a:bodyPr>
          <a:lstStyle/>
          <a:p>
            <a:pPr algn="l">
              <a:lnSpc>
                <a:spcPct val="105000"/>
              </a:lnSpc>
              <a:spcAft>
                <a:spcPts val="400"/>
              </a:spcAft>
            </a:pPr>
            <a:r>
              <a:rPr sz="1350" b="0">
                <a:solidFill>
                  <a:srgbClr val="2B252A"/>
                </a:solidFill>
                <a:latin typeface="Arial"/>
              </a:rPr>
              <a:t>symptoms last a median 7.4 years — half of women quit within 1; 62% stop abruptly against advice, 84% relapse</a:t>
            </a:r>
          </a:p>
        </p:txBody>
      </p:sp>
      <p:sp>
        <p:nvSpPr>
          <p:cNvPr id="18" name="Rounded Rectangle 17"/>
          <p:cNvSpPr/>
          <p:nvPr/>
        </p:nvSpPr>
        <p:spPr>
          <a:xfrm>
            <a:off x="548640" y="5349240"/>
            <a:ext cx="11064240" cy="777240"/>
          </a:xfrm>
          <a:prstGeom prst="round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349240"/>
            <a:ext cx="10515600" cy="777240"/>
          </a:xfrm>
          <a:prstGeom prst="rect">
            <a:avLst/>
          </a:prstGeom>
          <a:noFill/>
        </p:spPr>
        <p:txBody>
          <a:bodyPr wrap="square" anchor="ctr" lIns="25400" rIns="25400" tIns="25400" bIns="25400">
            <a:spAutoFit/>
          </a:bodyPr>
          <a:lstStyle/>
          <a:p>
            <a:pPr algn="l">
              <a:lnSpc>
                <a:spcPct val="100000"/>
              </a:lnSpc>
              <a:spcAft>
                <a:spcPts val="400"/>
              </a:spcAft>
            </a:pPr>
            <a:r>
              <a:rPr sz="1800" b="1">
                <a:solidFill>
                  <a:srgbClr val="FFFFFF"/>
                </a:solidFill>
                <a:latin typeface="Arial"/>
              </a:rPr>
              <a:t>Titration is a craft run on recall. </a:t>
            </a:r>
            <a:r>
              <a:rPr sz="1800" b="1">
                <a:solidFill>
                  <a:srgbClr val="C89B3C"/>
                </a:solidFill>
                <a:latin typeface="Arial"/>
              </a:rPr>
              <a:t>It should be a data problem.</a:t>
            </a:r>
          </a:p>
        </p:txBody>
      </p:sp>
      <p:sp>
        <p:nvSpPr>
          <p:cNvPr id="20" name="TextBox 19"/>
          <p:cNvSpPr txBox="1"/>
          <p:nvPr/>
        </p:nvSpPr>
        <p:spPr>
          <a:xfrm>
            <a:off x="548640" y="6217920"/>
            <a:ext cx="11064240" cy="320040"/>
          </a:xfrm>
          <a:prstGeom prst="rect">
            <a:avLst/>
          </a:prstGeom>
          <a:noFill/>
        </p:spPr>
        <p:txBody>
          <a:bodyPr wrap="square" anchor="t" lIns="25400" rIns="25400" tIns="25400" bIns="25400">
            <a:spAutoFit/>
          </a:bodyPr>
          <a:lstStyle/>
          <a:p>
            <a:pPr algn="l">
              <a:lnSpc>
                <a:spcPct val="100000"/>
              </a:lnSpc>
              <a:spcAft>
                <a:spcPts val="400"/>
              </a:spcAft>
            </a:pPr>
            <a:r>
              <a:rPr sz="1100" b="0">
                <a:solidFill>
                  <a:srgbClr val="6B6368"/>
                </a:solidFill>
                <a:latin typeface="Arial"/>
              </a:rPr>
              <a:t>$13B/yr out-of-pocket on low-evidence workarounds  ·  symptomatic women incur +45% healthcare costs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SOLUTION</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Make titration a monitored "season" — with a start, an end, and a graduation</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03</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ounded Rectangle 7"/>
          <p:cNvSpPr/>
          <p:nvPr/>
        </p:nvSpPr>
        <p:spPr>
          <a:xfrm>
            <a:off x="548640" y="1371600"/>
            <a:ext cx="3602736" cy="448056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71600"/>
            <a:ext cx="3602736" cy="566928"/>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371600"/>
            <a:ext cx="3602736" cy="566928"/>
          </a:xfrm>
          <a:prstGeom prst="rect">
            <a:avLst/>
          </a:prstGeom>
          <a:noFill/>
        </p:spPr>
        <p:txBody>
          <a:bodyPr wrap="square" anchor="ctr" lIns="25400" rIns="25400" tIns="25400" bIns="25400">
            <a:spAutoFit/>
          </a:bodyPr>
          <a:lstStyle/>
          <a:p>
            <a:pPr algn="ctr">
              <a:lnSpc>
                <a:spcPct val="100000"/>
              </a:lnSpc>
              <a:spcAft>
                <a:spcPts val="400"/>
              </a:spcAft>
            </a:pPr>
            <a:r>
              <a:rPr sz="1700" b="1">
                <a:solidFill>
                  <a:srgbClr val="FFFFFF"/>
                </a:solidFill>
                <a:latin typeface="Arial"/>
              </a:rPr>
              <a:t>For her</a:t>
            </a:r>
          </a:p>
        </p:txBody>
      </p:sp>
      <p:sp>
        <p:nvSpPr>
          <p:cNvPr id="11" name="TextBox 10"/>
          <p:cNvSpPr txBox="1"/>
          <p:nvPr/>
        </p:nvSpPr>
        <p:spPr>
          <a:xfrm>
            <a:off x="749808" y="2148840"/>
            <a:ext cx="3200400" cy="3657600"/>
          </a:xfrm>
          <a:prstGeom prst="rect">
            <a:avLst/>
          </a:prstGeom>
          <a:noFill/>
        </p:spPr>
        <p:txBody>
          <a:bodyPr wrap="square">
            <a:spAutoFit/>
          </a:bodyPr>
          <a:lstStyle/>
          <a:p>
            <a:pPr>
              <a:lnSpc>
                <a:spcPct val="105000"/>
              </a:lnSpc>
              <a:spcAft>
                <a:spcPts val="900"/>
              </a:spcAft>
            </a:pPr>
            <a:r>
              <a:rPr sz="1300" b="1">
                <a:solidFill>
                  <a:srgbClr val="C96F8A"/>
                </a:solidFill>
                <a:latin typeface="Arial"/>
              </a:rPr>
              <a:t>•  </a:t>
            </a:r>
            <a:r>
              <a:rPr sz="1300" b="0">
                <a:solidFill>
                  <a:srgbClr val="2B252A"/>
                </a:solidFill>
                <a:latin typeface="Arial"/>
              </a:rPr>
              <a:t>30-second structured daily check-in (SMS-first)</a:t>
            </a:r>
          </a:p>
          <a:p>
            <a:pPr>
              <a:lnSpc>
                <a:spcPct val="105000"/>
              </a:lnSpc>
              <a:spcAft>
                <a:spcPts val="900"/>
              </a:spcAft>
            </a:pPr>
            <a:r>
              <a:rPr sz="1300" b="1">
                <a:solidFill>
                  <a:srgbClr val="C96F8A"/>
                </a:solidFill>
                <a:latin typeface="Arial"/>
              </a:rPr>
              <a:t>•  </a:t>
            </a:r>
            <a:r>
              <a:rPr sz="1300" b="0">
                <a:solidFill>
                  <a:srgbClr val="2B252A"/>
                </a:solidFill>
                <a:latin typeface="Arial"/>
              </a:rPr>
              <a:t>“Expected-band” feedback: is what you feel on the normal trajectory? (day 18, dose X)</a:t>
            </a:r>
          </a:p>
          <a:p>
            <a:pPr>
              <a:lnSpc>
                <a:spcPct val="105000"/>
              </a:lnSpc>
              <a:spcAft>
                <a:spcPts val="900"/>
              </a:spcAft>
            </a:pPr>
            <a:r>
              <a:rPr sz="1300" b="1">
                <a:solidFill>
                  <a:srgbClr val="C96F8A"/>
                </a:solidFill>
                <a:latin typeface="Arial"/>
              </a:rPr>
              <a:t>•  </a:t>
            </a:r>
            <a:r>
              <a:rPr sz="1300" b="0">
                <a:solidFill>
                  <a:srgbClr val="2B252A"/>
                </a:solidFill>
                <a:latin typeface="Arial"/>
              </a:rPr>
              <a:t>Answers “is this normal?” before she rips off the patch</a:t>
            </a:r>
          </a:p>
        </p:txBody>
      </p:sp>
      <p:sp>
        <p:nvSpPr>
          <p:cNvPr id="12" name="Rounded Rectangle 11"/>
          <p:cNvSpPr/>
          <p:nvPr/>
        </p:nvSpPr>
        <p:spPr>
          <a:xfrm>
            <a:off x="4279392" y="1371600"/>
            <a:ext cx="3602736" cy="448056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371600"/>
            <a:ext cx="3602736" cy="566928"/>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371600"/>
            <a:ext cx="3602736" cy="566928"/>
          </a:xfrm>
          <a:prstGeom prst="rect">
            <a:avLst/>
          </a:prstGeom>
          <a:noFill/>
        </p:spPr>
        <p:txBody>
          <a:bodyPr wrap="square" anchor="ctr" lIns="25400" rIns="25400" tIns="25400" bIns="25400">
            <a:spAutoFit/>
          </a:bodyPr>
          <a:lstStyle/>
          <a:p>
            <a:pPr algn="ctr">
              <a:lnSpc>
                <a:spcPct val="100000"/>
              </a:lnSpc>
              <a:spcAft>
                <a:spcPts val="400"/>
              </a:spcAft>
            </a:pPr>
            <a:r>
              <a:rPr sz="1700" b="1">
                <a:solidFill>
                  <a:srgbClr val="FFFFFF"/>
                </a:solidFill>
                <a:latin typeface="Arial"/>
              </a:rPr>
              <a:t>For the clinician</a:t>
            </a:r>
          </a:p>
        </p:txBody>
      </p:sp>
      <p:sp>
        <p:nvSpPr>
          <p:cNvPr id="15" name="TextBox 14"/>
          <p:cNvSpPr txBox="1"/>
          <p:nvPr/>
        </p:nvSpPr>
        <p:spPr>
          <a:xfrm>
            <a:off x="4480560" y="2148840"/>
            <a:ext cx="3200400" cy="3657600"/>
          </a:xfrm>
          <a:prstGeom prst="rect">
            <a:avLst/>
          </a:prstGeom>
          <a:noFill/>
        </p:spPr>
        <p:txBody>
          <a:bodyPr wrap="square">
            <a:spAutoFit/>
          </a:bodyPr>
          <a:lstStyle/>
          <a:p>
            <a:pPr>
              <a:lnSpc>
                <a:spcPct val="105000"/>
              </a:lnSpc>
              <a:spcAft>
                <a:spcPts val="900"/>
              </a:spcAft>
            </a:pPr>
            <a:r>
              <a:rPr sz="1300" b="1">
                <a:solidFill>
                  <a:srgbClr val="C96F8A"/>
                </a:solidFill>
                <a:latin typeface="Arial"/>
              </a:rPr>
              <a:t>•  </a:t>
            </a:r>
            <a:r>
              <a:rPr sz="1300" b="0">
                <a:solidFill>
                  <a:srgbClr val="2B252A"/>
                </a:solidFill>
                <a:latin typeface="Arial"/>
              </a:rPr>
              <a:t>A one-page dose–symptom curve auto-sent 48h before the visit</a:t>
            </a:r>
          </a:p>
          <a:p>
            <a:pPr>
              <a:lnSpc>
                <a:spcPct val="105000"/>
              </a:lnSpc>
              <a:spcAft>
                <a:spcPts val="900"/>
              </a:spcAft>
            </a:pPr>
            <a:r>
              <a:rPr sz="1300" b="1">
                <a:solidFill>
                  <a:srgbClr val="C96F8A"/>
                </a:solidFill>
                <a:latin typeface="Arial"/>
              </a:rPr>
              <a:t>•  </a:t>
            </a:r>
            <a:r>
              <a:rPr sz="1300" b="0">
                <a:solidFill>
                  <a:srgbClr val="2B252A"/>
                </a:solidFill>
                <a:latin typeface="Arial"/>
              </a:rPr>
              <a:t>Red-flag symptoms auto-triaged</a:t>
            </a:r>
          </a:p>
          <a:p>
            <a:pPr>
              <a:lnSpc>
                <a:spcPct val="105000"/>
              </a:lnSpc>
              <a:spcAft>
                <a:spcPts val="900"/>
              </a:spcAft>
            </a:pPr>
            <a:r>
              <a:rPr sz="1300" b="1">
                <a:solidFill>
                  <a:srgbClr val="C96F8A"/>
                </a:solidFill>
                <a:latin typeface="Arial"/>
              </a:rPr>
              <a:t>•  </a:t>
            </a:r>
            <a:r>
              <a:rPr sz="1300" b="0">
                <a:solidFill>
                  <a:srgbClr val="2B252A"/>
                </a:solidFill>
                <a:latin typeface="Arial"/>
              </a:rPr>
              <a:t>Turns “not great?” into an 8-week record</a:t>
            </a:r>
          </a:p>
        </p:txBody>
      </p:sp>
      <p:sp>
        <p:nvSpPr>
          <p:cNvPr id="16" name="Rounded Rectangle 15"/>
          <p:cNvSpPr/>
          <p:nvPr/>
        </p:nvSpPr>
        <p:spPr>
          <a:xfrm>
            <a:off x="8010144" y="1371600"/>
            <a:ext cx="3602736" cy="448056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10144" y="1371600"/>
            <a:ext cx="3602736" cy="566928"/>
          </a:xfrm>
          <a:prstGeom prst="rect">
            <a:avLst/>
          </a:prstGeom>
          <a:solidFill>
            <a:srgbClr val="6E3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10144" y="1371600"/>
            <a:ext cx="3602736" cy="566928"/>
          </a:xfrm>
          <a:prstGeom prst="rect">
            <a:avLst/>
          </a:prstGeom>
          <a:noFill/>
        </p:spPr>
        <p:txBody>
          <a:bodyPr wrap="square" anchor="ctr" lIns="25400" rIns="25400" tIns="25400" bIns="25400">
            <a:spAutoFit/>
          </a:bodyPr>
          <a:lstStyle/>
          <a:p>
            <a:pPr algn="ctr">
              <a:lnSpc>
                <a:spcPct val="100000"/>
              </a:lnSpc>
              <a:spcAft>
                <a:spcPts val="400"/>
              </a:spcAft>
            </a:pPr>
            <a:r>
              <a:rPr sz="1700" b="1">
                <a:solidFill>
                  <a:srgbClr val="FFFFFF"/>
                </a:solidFill>
                <a:latin typeface="Arial"/>
              </a:rPr>
              <a:t>For the system</a:t>
            </a:r>
          </a:p>
        </p:txBody>
      </p:sp>
      <p:sp>
        <p:nvSpPr>
          <p:cNvPr id="19" name="TextBox 18"/>
          <p:cNvSpPr txBox="1"/>
          <p:nvPr/>
        </p:nvSpPr>
        <p:spPr>
          <a:xfrm>
            <a:off x="8211312" y="2148840"/>
            <a:ext cx="3200400" cy="3657600"/>
          </a:xfrm>
          <a:prstGeom prst="rect">
            <a:avLst/>
          </a:prstGeom>
          <a:noFill/>
        </p:spPr>
        <p:txBody>
          <a:bodyPr wrap="square">
            <a:spAutoFit/>
          </a:bodyPr>
          <a:lstStyle/>
          <a:p>
            <a:pPr>
              <a:lnSpc>
                <a:spcPct val="105000"/>
              </a:lnSpc>
              <a:spcAft>
                <a:spcPts val="900"/>
              </a:spcAft>
            </a:pPr>
            <a:r>
              <a:rPr sz="1300" b="1">
                <a:solidFill>
                  <a:srgbClr val="C96F8A"/>
                </a:solidFill>
                <a:latin typeface="Arial"/>
              </a:rPr>
              <a:t>•  </a:t>
            </a:r>
            <a:r>
              <a:rPr sz="1300" b="0">
                <a:solidFill>
                  <a:srgbClr val="2B252A"/>
                </a:solidFill>
                <a:latin typeface="Arial"/>
              </a:rPr>
              <a:t>Structured data → one nurse oversees hundreds (exception-based)</a:t>
            </a:r>
          </a:p>
          <a:p>
            <a:pPr>
              <a:lnSpc>
                <a:spcPct val="105000"/>
              </a:lnSpc>
              <a:spcAft>
                <a:spcPts val="900"/>
              </a:spcAft>
            </a:pPr>
            <a:r>
              <a:rPr sz="1300" b="1">
                <a:solidFill>
                  <a:srgbClr val="C96F8A"/>
                </a:solidFill>
                <a:latin typeface="Arial"/>
              </a:rPr>
              <a:t>•  </a:t>
            </a:r>
            <a:r>
              <a:rPr sz="1300" b="0">
                <a:solidFill>
                  <a:srgbClr val="2B252A"/>
                </a:solidFill>
                <a:latin typeface="Arial"/>
              </a:rPr>
              <a:t>Billable: RTM in the US (~$94/patient/mo)</a:t>
            </a:r>
          </a:p>
          <a:p>
            <a:pPr>
              <a:lnSpc>
                <a:spcPct val="105000"/>
              </a:lnSpc>
              <a:spcAft>
                <a:spcPts val="900"/>
              </a:spcAft>
            </a:pPr>
            <a:r>
              <a:rPr sz="1300" b="1">
                <a:solidFill>
                  <a:srgbClr val="C96F8A"/>
                </a:solidFill>
                <a:latin typeface="Arial"/>
              </a:rPr>
              <a:t>•  </a:t>
            </a:r>
            <a:r>
              <a:rPr sz="1300" b="0">
                <a:solidFill>
                  <a:srgbClr val="2B252A"/>
                </a:solidFill>
                <a:latin typeface="Arial"/>
              </a:rPr>
              <a:t>Builds a dose↔response dataset that exists nowhere today</a:t>
            </a:r>
          </a:p>
        </p:txBody>
      </p:sp>
      <p:sp>
        <p:nvSpPr>
          <p:cNvPr id="20" name="TextBox 19"/>
          <p:cNvSpPr txBox="1"/>
          <p:nvPr/>
        </p:nvSpPr>
        <p:spPr>
          <a:xfrm>
            <a:off x="548640" y="6035040"/>
            <a:ext cx="10972800" cy="457200"/>
          </a:xfrm>
          <a:prstGeom prst="rect">
            <a:avLst/>
          </a:prstGeom>
          <a:noFill/>
        </p:spPr>
        <p:txBody>
          <a:bodyPr wrap="square" anchor="t" lIns="25400" rIns="25400" tIns="25400" bIns="25400">
            <a:spAutoFit/>
          </a:bodyPr>
          <a:lstStyle/>
          <a:p>
            <a:pPr algn="l">
              <a:lnSpc>
                <a:spcPct val="105000"/>
              </a:lnSpc>
              <a:spcAft>
                <a:spcPts val="400"/>
              </a:spcAft>
            </a:pPr>
            <a:r>
              <a:rPr sz="1300" b="1">
                <a:solidFill>
                  <a:srgbClr val="4A1F3D"/>
                </a:solidFill>
                <a:latin typeface="Arial"/>
              </a:rPr>
              <a:t>Mechanism proven: </a:t>
            </a:r>
            <a:r>
              <a:rPr sz="1300" b="0">
                <a:solidFill>
                  <a:srgbClr val="6B6368"/>
                </a:solidFill>
                <a:latin typeface="Arial"/>
              </a:rPr>
              <a:t>Basch et al., JAMA 2017 (n=766) — structured symptom self-report + alerts kept cancer patients on treatment 2 months longer and extended survival 5.2 months.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MARKET · CUSTOMER PROFILE</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Who we serve: women in the titration window</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04</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ounded Rectangle 7"/>
          <p:cNvSpPr/>
          <p:nvPr/>
        </p:nvSpPr>
        <p:spPr>
          <a:xfrm>
            <a:off x="548640" y="1325880"/>
            <a:ext cx="5486400" cy="493776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029200" cy="457200"/>
          </a:xfrm>
          <a:prstGeom prst="rect">
            <a:avLst/>
          </a:prstGeom>
          <a:noFill/>
        </p:spPr>
        <p:txBody>
          <a:bodyPr wrap="square" anchor="t" lIns="25400" rIns="25400" tIns="25400" bIns="25400">
            <a:spAutoFit/>
          </a:bodyPr>
          <a:lstStyle/>
          <a:p>
            <a:pPr algn="l">
              <a:lnSpc>
                <a:spcPct val="100000"/>
              </a:lnSpc>
              <a:spcAft>
                <a:spcPts val="400"/>
              </a:spcAft>
            </a:pPr>
            <a:r>
              <a:rPr sz="1800" b="1">
                <a:solidFill>
                  <a:srgbClr val="4A1F3D"/>
                </a:solidFill>
                <a:latin typeface="Arial"/>
              </a:rPr>
              <a:t>Primary user — “Sarah, 51”</a:t>
            </a:r>
          </a:p>
        </p:txBody>
      </p:sp>
      <p:sp>
        <p:nvSpPr>
          <p:cNvPr id="10" name="TextBox 9"/>
          <p:cNvSpPr txBox="1"/>
          <p:nvPr/>
        </p:nvSpPr>
        <p:spPr>
          <a:xfrm>
            <a:off x="777240" y="2148840"/>
            <a:ext cx="5029200" cy="3657600"/>
          </a:xfrm>
          <a:prstGeom prst="rect">
            <a:avLst/>
          </a:prstGeom>
          <a:noFill/>
        </p:spPr>
        <p:txBody>
          <a:bodyPr wrap="square">
            <a:spAutoFit/>
          </a:bodyPr>
          <a:lstStyle/>
          <a:p>
            <a:pPr>
              <a:lnSpc>
                <a:spcPct val="105000"/>
              </a:lnSpc>
              <a:spcAft>
                <a:spcPts val="900"/>
              </a:spcAft>
            </a:pPr>
            <a:r>
              <a:rPr sz="1350" b="1">
                <a:solidFill>
                  <a:srgbClr val="C96F8A"/>
                </a:solidFill>
                <a:latin typeface="Arial"/>
              </a:rPr>
              <a:t>•  </a:t>
            </a:r>
            <a:r>
              <a:rPr sz="1350" b="0">
                <a:solidFill>
                  <a:srgbClr val="2B252A"/>
                </a:solidFill>
                <a:latin typeface="Arial"/>
              </a:rPr>
              <a:t>Just started HRT (or a non-hormonal menopause drug)</a:t>
            </a:r>
          </a:p>
          <a:p>
            <a:pPr>
              <a:lnSpc>
                <a:spcPct val="105000"/>
              </a:lnSpc>
              <a:spcAft>
                <a:spcPts val="900"/>
              </a:spcAft>
            </a:pPr>
            <a:r>
              <a:rPr sz="1350" b="1">
                <a:solidFill>
                  <a:srgbClr val="C96F8A"/>
                </a:solidFill>
                <a:latin typeface="Arial"/>
              </a:rPr>
              <a:t>•  </a:t>
            </a:r>
            <a:r>
              <a:rPr sz="1350" b="0">
                <a:solidFill>
                  <a:srgbClr val="2B252A"/>
                </a:solidFill>
                <a:latin typeface="Arial"/>
              </a:rPr>
              <a:t>In month 0–6: the highest-anxiety, highest-search, highest-quit window</a:t>
            </a:r>
          </a:p>
          <a:p>
            <a:pPr>
              <a:lnSpc>
                <a:spcPct val="105000"/>
              </a:lnSpc>
              <a:spcAft>
                <a:spcPts val="900"/>
              </a:spcAft>
            </a:pPr>
            <a:r>
              <a:rPr sz="1350" b="1">
                <a:solidFill>
                  <a:srgbClr val="C96F8A"/>
                </a:solidFill>
                <a:latin typeface="Arial"/>
              </a:rPr>
              <a:t>•  </a:t>
            </a:r>
            <a:r>
              <a:rPr sz="1300" b="1">
                <a:solidFill>
                  <a:srgbClr val="4A1F3D"/>
                </a:solidFill>
                <a:latin typeface="Arial"/>
              </a:rPr>
              <a:t>Canada twist: </a:t>
            </a:r>
            <a:r>
              <a:rPr sz="1300" b="0">
                <a:solidFill>
                  <a:srgbClr val="2B252A"/>
                </a:solidFill>
                <a:latin typeface="Arial"/>
              </a:rPr>
              <a:t>may have no family doctor — nobody owns her post-prescription 24 weeks</a:t>
            </a:r>
          </a:p>
          <a:p>
            <a:pPr>
              <a:lnSpc>
                <a:spcPct val="105000"/>
              </a:lnSpc>
              <a:spcAft>
                <a:spcPts val="900"/>
              </a:spcAft>
            </a:pPr>
            <a:r>
              <a:rPr sz="1350" b="1">
                <a:solidFill>
                  <a:srgbClr val="C96F8A"/>
                </a:solidFill>
                <a:latin typeface="Arial"/>
              </a:rPr>
              <a:t>•  </a:t>
            </a:r>
            <a:r>
              <a:rPr sz="1350" b="0">
                <a:solidFill>
                  <a:srgbClr val="2B252A"/>
                </a:solidFill>
                <a:latin typeface="Arial"/>
              </a:rPr>
              <a:t>Already paying out of pocket: copays, compounded HRT, supplements</a:t>
            </a:r>
          </a:p>
          <a:p>
            <a:pPr>
              <a:lnSpc>
                <a:spcPct val="105000"/>
              </a:lnSpc>
              <a:spcAft>
                <a:spcPts val="900"/>
              </a:spcAft>
            </a:pPr>
            <a:r>
              <a:rPr sz="1350" b="1">
                <a:solidFill>
                  <a:srgbClr val="C96F8A"/>
                </a:solidFill>
                <a:latin typeface="Arial"/>
              </a:rPr>
              <a:t>•  </a:t>
            </a:r>
            <a:r>
              <a:rPr sz="1350" b="0">
                <a:solidFill>
                  <a:srgbClr val="2B252A"/>
                </a:solidFill>
                <a:latin typeface="Arial"/>
              </a:rPr>
              <a:t>What she wants is not “fewer hot flashes” — it is “feel like myself again”</a:t>
            </a:r>
          </a:p>
        </p:txBody>
      </p:sp>
      <p:sp>
        <p:nvSpPr>
          <p:cNvPr id="11" name="Rounded Rectangle 10"/>
          <p:cNvSpPr/>
          <p:nvPr/>
        </p:nvSpPr>
        <p:spPr>
          <a:xfrm>
            <a:off x="6263640" y="1325880"/>
            <a:ext cx="5349240" cy="493776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508760"/>
            <a:ext cx="4937760" cy="457200"/>
          </a:xfrm>
          <a:prstGeom prst="rect">
            <a:avLst/>
          </a:prstGeom>
          <a:noFill/>
        </p:spPr>
        <p:txBody>
          <a:bodyPr wrap="square" anchor="t" lIns="25400" rIns="25400" tIns="25400" bIns="25400">
            <a:spAutoFit/>
          </a:bodyPr>
          <a:lstStyle/>
          <a:p>
            <a:pPr algn="l">
              <a:lnSpc>
                <a:spcPct val="100000"/>
              </a:lnSpc>
              <a:spcAft>
                <a:spcPts val="400"/>
              </a:spcAft>
            </a:pPr>
            <a:r>
              <a:rPr sz="1800" b="1">
                <a:solidFill>
                  <a:srgbClr val="4A1F3D"/>
                </a:solidFill>
                <a:latin typeface="Arial"/>
              </a:rPr>
              <a:t>Who pays (≠ the user)</a:t>
            </a:r>
          </a:p>
        </p:txBody>
      </p:sp>
      <p:sp>
        <p:nvSpPr>
          <p:cNvPr id="13" name="TextBox 12"/>
          <p:cNvSpPr txBox="1"/>
          <p:nvPr/>
        </p:nvSpPr>
        <p:spPr>
          <a:xfrm>
            <a:off x="6492240" y="2148840"/>
            <a:ext cx="4937760" cy="3657600"/>
          </a:xfrm>
          <a:prstGeom prst="rect">
            <a:avLst/>
          </a:prstGeom>
          <a:noFill/>
        </p:spPr>
        <p:txBody>
          <a:bodyPr wrap="square">
            <a:spAutoFit/>
          </a:bodyPr>
          <a:lstStyle/>
          <a:p>
            <a:pPr>
              <a:lnSpc>
                <a:spcPct val="105000"/>
              </a:lnSpc>
              <a:spcAft>
                <a:spcPts val="1000"/>
              </a:spcAft>
            </a:pPr>
            <a:r>
              <a:rPr sz="1350" b="1">
                <a:solidFill>
                  <a:srgbClr val="C96F8A"/>
                </a:solidFill>
                <a:latin typeface="Arial"/>
              </a:rPr>
              <a:t>•  </a:t>
            </a:r>
            <a:r>
              <a:rPr sz="1400" b="1">
                <a:solidFill>
                  <a:srgbClr val="C96F8A"/>
                </a:solidFill>
                <a:latin typeface="Arial"/>
              </a:rPr>
              <a:t>Pharma</a:t>
            </a:r>
            <a:r>
              <a:rPr sz="1350" b="0">
                <a:solidFill>
                  <a:srgbClr val="2B252A"/>
                </a:solidFill>
                <a:latin typeface="Arial"/>
              </a:rPr>
              <a:t> — launch-stage drug makers buying adherence + real-world evidence</a:t>
            </a:r>
          </a:p>
          <a:p>
            <a:pPr>
              <a:lnSpc>
                <a:spcPct val="105000"/>
              </a:lnSpc>
              <a:spcAft>
                <a:spcPts val="1000"/>
              </a:spcAft>
            </a:pPr>
            <a:r>
              <a:rPr sz="1350" b="1">
                <a:solidFill>
                  <a:srgbClr val="C96F8A"/>
                </a:solidFill>
                <a:latin typeface="Arial"/>
              </a:rPr>
              <a:t>•  </a:t>
            </a:r>
            <a:r>
              <a:rPr sz="1400" b="1">
                <a:solidFill>
                  <a:srgbClr val="C96F8A"/>
                </a:solidFill>
                <a:latin typeface="Arial"/>
              </a:rPr>
              <a:t>Virtual clinics</a:t>
            </a:r>
            <a:r>
              <a:rPr sz="1350" b="0">
                <a:solidFill>
                  <a:srgbClr val="2B252A"/>
                </a:solidFill>
                <a:latin typeface="Arial"/>
              </a:rPr>
              <a:t> — embed us to cut first-year churn &amp; win renewals</a:t>
            </a:r>
          </a:p>
          <a:p>
            <a:pPr>
              <a:lnSpc>
                <a:spcPct val="105000"/>
              </a:lnSpc>
              <a:spcAft>
                <a:spcPts val="1000"/>
              </a:spcAft>
            </a:pPr>
            <a:r>
              <a:rPr sz="1350" b="1">
                <a:solidFill>
                  <a:srgbClr val="C96F8A"/>
                </a:solidFill>
                <a:latin typeface="Arial"/>
              </a:rPr>
              <a:t>•  </a:t>
            </a:r>
            <a:r>
              <a:rPr sz="1400" b="1">
                <a:solidFill>
                  <a:srgbClr val="C96F8A"/>
                </a:solidFill>
                <a:latin typeface="Arial"/>
              </a:rPr>
              <a:t>Payers / RTM (US)</a:t>
            </a:r>
            <a:r>
              <a:rPr sz="1350" b="0">
                <a:solidFill>
                  <a:srgbClr val="2B252A"/>
                </a:solidFill>
                <a:latin typeface="Arial"/>
              </a:rPr>
              <a:t> — monitoring reimbursed per patient-month</a:t>
            </a:r>
          </a:p>
          <a:p>
            <a:pPr>
              <a:lnSpc>
                <a:spcPct val="105000"/>
              </a:lnSpc>
              <a:spcAft>
                <a:spcPts val="1000"/>
              </a:spcAft>
            </a:pPr>
            <a:r>
              <a:rPr sz="1350" b="1">
                <a:solidFill>
                  <a:srgbClr val="C96F8A"/>
                </a:solidFill>
                <a:latin typeface="Arial"/>
              </a:rPr>
              <a:t>•  </a:t>
            </a:r>
            <a:r>
              <a:rPr sz="1400" b="1">
                <a:solidFill>
                  <a:srgbClr val="C96F8A"/>
                </a:solidFill>
                <a:latin typeface="Arial"/>
              </a:rPr>
              <a:t>Group benefits (Canada)</a:t>
            </a:r>
            <a:r>
              <a:rPr sz="1350" b="0">
                <a:solidFill>
                  <a:srgbClr val="2B252A"/>
                </a:solidFill>
                <a:latin typeface="Arial"/>
              </a:rPr>
              <a:t> — Manulife/Sun Life; HRT claims +20.7% in 3 yrs</a:t>
            </a:r>
          </a:p>
          <a:p>
            <a:pPr>
              <a:lnSpc>
                <a:spcPct val="105000"/>
              </a:lnSpc>
              <a:spcAft>
                <a:spcPts val="1000"/>
              </a:spcAft>
            </a:pPr>
            <a:r>
              <a:rPr sz="1350" b="1">
                <a:solidFill>
                  <a:srgbClr val="C96F8A"/>
                </a:solidFill>
                <a:latin typeface="Arial"/>
              </a:rPr>
              <a:t>•  </a:t>
            </a:r>
            <a:r>
              <a:rPr sz="1400" b="1">
                <a:solidFill>
                  <a:srgbClr val="C96F8A"/>
                </a:solidFill>
                <a:latin typeface="Arial"/>
              </a:rPr>
              <a:t>She (DTC assist)</a:t>
            </a:r>
            <a:r>
              <a:rPr sz="1350" b="0">
                <a:solidFill>
                  <a:srgbClr val="2B252A"/>
                </a:solidFill>
                <a:latin typeface="Arial"/>
              </a:rPr>
              <a:t> — low-price tier; mainly the data &amp; patient engine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MARKET · SIZE (ESTIMATE)</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TAM / SAM / SOM — the on-treatment subset, US + Canada</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05</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ounded Rectangle 7"/>
          <p:cNvSpPr/>
          <p:nvPr/>
        </p:nvSpPr>
        <p:spPr>
          <a:xfrm>
            <a:off x="563727" y="1554480"/>
            <a:ext cx="11064240" cy="1234440"/>
          </a:xfrm>
          <a:prstGeom prst="round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047" y="1554480"/>
            <a:ext cx="1463040" cy="1234440"/>
          </a:xfrm>
          <a:prstGeom prst="rect">
            <a:avLst/>
          </a:prstGeom>
          <a:noFill/>
        </p:spPr>
        <p:txBody>
          <a:bodyPr wrap="square" anchor="ctr" lIns="25400" rIns="25400" tIns="25400" bIns="25400">
            <a:spAutoFit/>
          </a:bodyPr>
          <a:lstStyle/>
          <a:p>
            <a:pPr algn="l">
              <a:lnSpc>
                <a:spcPct val="100000"/>
              </a:lnSpc>
              <a:spcAft>
                <a:spcPts val="400"/>
              </a:spcAft>
            </a:pPr>
            <a:r>
              <a:rPr sz="2600" b="1">
                <a:solidFill>
                  <a:srgbClr val="FFFFFF"/>
                </a:solidFill>
                <a:latin typeface="Arial"/>
              </a:rPr>
              <a:t>TAM</a:t>
            </a:r>
          </a:p>
        </p:txBody>
      </p:sp>
      <p:sp>
        <p:nvSpPr>
          <p:cNvPr id="10" name="TextBox 9"/>
          <p:cNvSpPr txBox="1"/>
          <p:nvPr/>
        </p:nvSpPr>
        <p:spPr>
          <a:xfrm>
            <a:off x="2301087" y="1554480"/>
            <a:ext cx="2286000" cy="1234440"/>
          </a:xfrm>
          <a:prstGeom prst="rect">
            <a:avLst/>
          </a:prstGeom>
          <a:noFill/>
        </p:spPr>
        <p:txBody>
          <a:bodyPr wrap="square" anchor="ctr" lIns="25400" rIns="25400" tIns="25400" bIns="25400">
            <a:spAutoFit/>
          </a:bodyPr>
          <a:lstStyle/>
          <a:p>
            <a:pPr algn="l">
              <a:lnSpc>
                <a:spcPct val="100000"/>
              </a:lnSpc>
              <a:spcAft>
                <a:spcPts val="400"/>
              </a:spcAft>
            </a:pPr>
            <a:r>
              <a:rPr sz="2100" b="1">
                <a:solidFill>
                  <a:srgbClr val="FFFFFF"/>
                </a:solidFill>
                <a:latin typeface="Arial"/>
              </a:rPr>
              <a:t>~$0.5–1.5B / yr</a:t>
            </a:r>
          </a:p>
        </p:txBody>
      </p:sp>
      <p:sp>
        <p:nvSpPr>
          <p:cNvPr id="11" name="TextBox 10"/>
          <p:cNvSpPr txBox="1"/>
          <p:nvPr/>
        </p:nvSpPr>
        <p:spPr>
          <a:xfrm>
            <a:off x="4678527" y="1554480"/>
            <a:ext cx="6766560" cy="1234440"/>
          </a:xfrm>
          <a:prstGeom prst="rect">
            <a:avLst/>
          </a:prstGeom>
          <a:noFill/>
        </p:spPr>
        <p:txBody>
          <a:bodyPr wrap="square" anchor="ctr" lIns="25400" rIns="25400" tIns="25400" bIns="25400">
            <a:spAutoFit/>
          </a:bodyPr>
          <a:lstStyle/>
          <a:p>
            <a:pPr algn="l">
              <a:lnSpc>
                <a:spcPct val="105000"/>
              </a:lnSpc>
              <a:spcAft>
                <a:spcPts val="400"/>
              </a:spcAft>
            </a:pPr>
            <a:r>
              <a:rPr sz="1250" b="0">
                <a:solidFill>
                  <a:srgbClr val="FFFFFF"/>
                </a:solidFill>
                <a:latin typeface="Arial"/>
              </a:rPr>
              <a:t>All women on / starting hormone-related therapy in US+CA (~3.2M today, growing 20%+/yr) × $150–580 monitoring value + pharma RWE line</a:t>
            </a:r>
          </a:p>
        </p:txBody>
      </p:sp>
      <p:sp>
        <p:nvSpPr>
          <p:cNvPr id="12" name="Rounded Rectangle 11"/>
          <p:cNvSpPr/>
          <p:nvPr/>
        </p:nvSpPr>
        <p:spPr>
          <a:xfrm>
            <a:off x="1798167" y="2971800"/>
            <a:ext cx="8595360" cy="1234440"/>
          </a:xfrm>
          <a:prstGeom prst="roundRect">
            <a:avLst/>
          </a:prstGeom>
          <a:solidFill>
            <a:srgbClr val="6E3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72487" y="2971800"/>
            <a:ext cx="1463040" cy="1234440"/>
          </a:xfrm>
          <a:prstGeom prst="rect">
            <a:avLst/>
          </a:prstGeom>
          <a:noFill/>
        </p:spPr>
        <p:txBody>
          <a:bodyPr wrap="square" anchor="ctr" lIns="25400" rIns="25400" tIns="25400" bIns="25400">
            <a:spAutoFit/>
          </a:bodyPr>
          <a:lstStyle/>
          <a:p>
            <a:pPr algn="l">
              <a:lnSpc>
                <a:spcPct val="100000"/>
              </a:lnSpc>
              <a:spcAft>
                <a:spcPts val="400"/>
              </a:spcAft>
            </a:pPr>
            <a:r>
              <a:rPr sz="2600" b="1">
                <a:solidFill>
                  <a:srgbClr val="FFFFFF"/>
                </a:solidFill>
                <a:latin typeface="Arial"/>
              </a:rPr>
              <a:t>SAM</a:t>
            </a:r>
          </a:p>
        </p:txBody>
      </p:sp>
      <p:sp>
        <p:nvSpPr>
          <p:cNvPr id="14" name="TextBox 13"/>
          <p:cNvSpPr txBox="1"/>
          <p:nvPr/>
        </p:nvSpPr>
        <p:spPr>
          <a:xfrm>
            <a:off x="3535527" y="2971800"/>
            <a:ext cx="2286000" cy="1234440"/>
          </a:xfrm>
          <a:prstGeom prst="rect">
            <a:avLst/>
          </a:prstGeom>
          <a:noFill/>
        </p:spPr>
        <p:txBody>
          <a:bodyPr wrap="square" anchor="ctr" lIns="25400" rIns="25400" tIns="25400" bIns="25400">
            <a:spAutoFit/>
          </a:bodyPr>
          <a:lstStyle/>
          <a:p>
            <a:pPr algn="l">
              <a:lnSpc>
                <a:spcPct val="100000"/>
              </a:lnSpc>
              <a:spcAft>
                <a:spcPts val="400"/>
              </a:spcAft>
            </a:pPr>
            <a:r>
              <a:rPr sz="2100" b="1">
                <a:solidFill>
                  <a:srgbClr val="FFFFFF"/>
                </a:solidFill>
                <a:latin typeface="Arial"/>
              </a:rPr>
              <a:t>~$150–300M / yr</a:t>
            </a:r>
          </a:p>
        </p:txBody>
      </p:sp>
      <p:sp>
        <p:nvSpPr>
          <p:cNvPr id="15" name="TextBox 14"/>
          <p:cNvSpPr txBox="1"/>
          <p:nvPr/>
        </p:nvSpPr>
        <p:spPr>
          <a:xfrm>
            <a:off x="5912967" y="2971800"/>
            <a:ext cx="4297680" cy="1234440"/>
          </a:xfrm>
          <a:prstGeom prst="rect">
            <a:avLst/>
          </a:prstGeom>
          <a:noFill/>
        </p:spPr>
        <p:txBody>
          <a:bodyPr wrap="square" anchor="ctr" lIns="25400" rIns="25400" tIns="25400" bIns="25400">
            <a:spAutoFit/>
          </a:bodyPr>
          <a:lstStyle/>
          <a:p>
            <a:pPr algn="l">
              <a:lnSpc>
                <a:spcPct val="105000"/>
              </a:lnSpc>
              <a:spcAft>
                <a:spcPts val="400"/>
              </a:spcAft>
            </a:pPr>
            <a:r>
              <a:rPr sz="1250" b="0">
                <a:solidFill>
                  <a:srgbClr val="FFFFFF"/>
                </a:solidFill>
                <a:latin typeface="Arial"/>
              </a:rPr>
              <a:t>Reachable in 3–5 yrs via virtual clinics + pharmacist channel (CA) + DTC + one pharma line</a:t>
            </a:r>
          </a:p>
        </p:txBody>
      </p:sp>
      <p:sp>
        <p:nvSpPr>
          <p:cNvPr id="16" name="Rounded Rectangle 15"/>
          <p:cNvSpPr/>
          <p:nvPr/>
        </p:nvSpPr>
        <p:spPr>
          <a:xfrm>
            <a:off x="3078327" y="4389120"/>
            <a:ext cx="6035040" cy="1234440"/>
          </a:xfrm>
          <a:prstGeom prst="round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2647" y="4389120"/>
            <a:ext cx="1463040" cy="1234440"/>
          </a:xfrm>
          <a:prstGeom prst="rect">
            <a:avLst/>
          </a:prstGeom>
          <a:noFill/>
        </p:spPr>
        <p:txBody>
          <a:bodyPr wrap="square" anchor="ctr" lIns="25400" rIns="25400" tIns="25400" bIns="25400">
            <a:spAutoFit/>
          </a:bodyPr>
          <a:lstStyle/>
          <a:p>
            <a:pPr algn="l">
              <a:lnSpc>
                <a:spcPct val="100000"/>
              </a:lnSpc>
              <a:spcAft>
                <a:spcPts val="400"/>
              </a:spcAft>
            </a:pPr>
            <a:r>
              <a:rPr sz="2600" b="1">
                <a:solidFill>
                  <a:srgbClr val="FFFFFF"/>
                </a:solidFill>
                <a:latin typeface="Arial"/>
              </a:rPr>
              <a:t>SOM</a:t>
            </a:r>
          </a:p>
        </p:txBody>
      </p:sp>
      <p:sp>
        <p:nvSpPr>
          <p:cNvPr id="18" name="TextBox 17"/>
          <p:cNvSpPr txBox="1"/>
          <p:nvPr/>
        </p:nvSpPr>
        <p:spPr>
          <a:xfrm>
            <a:off x="4815687" y="4389120"/>
            <a:ext cx="2286000" cy="1234440"/>
          </a:xfrm>
          <a:prstGeom prst="rect">
            <a:avLst/>
          </a:prstGeom>
          <a:noFill/>
        </p:spPr>
        <p:txBody>
          <a:bodyPr wrap="square" anchor="ctr" lIns="25400" rIns="25400" tIns="25400" bIns="25400">
            <a:spAutoFit/>
          </a:bodyPr>
          <a:lstStyle/>
          <a:p>
            <a:pPr algn="l">
              <a:lnSpc>
                <a:spcPct val="100000"/>
              </a:lnSpc>
              <a:spcAft>
                <a:spcPts val="400"/>
              </a:spcAft>
            </a:pPr>
            <a:r>
              <a:rPr sz="2100" b="1">
                <a:solidFill>
                  <a:srgbClr val="FFFFFF"/>
                </a:solidFill>
                <a:latin typeface="Arial"/>
              </a:rPr>
              <a:t>~$5–12M ARR</a:t>
            </a:r>
          </a:p>
        </p:txBody>
      </p:sp>
      <p:sp>
        <p:nvSpPr>
          <p:cNvPr id="19" name="TextBox 18"/>
          <p:cNvSpPr txBox="1"/>
          <p:nvPr/>
        </p:nvSpPr>
        <p:spPr>
          <a:xfrm>
            <a:off x="7193127" y="4389120"/>
            <a:ext cx="1737360" cy="1234440"/>
          </a:xfrm>
          <a:prstGeom prst="rect">
            <a:avLst/>
          </a:prstGeom>
          <a:noFill/>
        </p:spPr>
        <p:txBody>
          <a:bodyPr wrap="square" anchor="ctr" lIns="25400" rIns="25400" tIns="25400" bIns="25400">
            <a:spAutoFit/>
          </a:bodyPr>
          <a:lstStyle/>
          <a:p>
            <a:pPr algn="l">
              <a:lnSpc>
                <a:spcPct val="105000"/>
              </a:lnSpc>
              <a:spcAft>
                <a:spcPts val="400"/>
              </a:spcAft>
            </a:pPr>
            <a:r>
              <a:rPr sz="1250" b="0">
                <a:solidFill>
                  <a:srgbClr val="FFFFFF"/>
                </a:solidFill>
                <a:latin typeface="Arial"/>
              </a:rPr>
              <a:t>36-month obtainable: 1 pharma pilot + 2 clinic design partners + 10–20k DTC subscribers</a:t>
            </a:r>
          </a:p>
        </p:txBody>
      </p:sp>
      <p:sp>
        <p:nvSpPr>
          <p:cNvPr id="20" name="TextBox 19"/>
          <p:cNvSpPr txBox="1"/>
          <p:nvPr/>
        </p:nvSpPr>
        <p:spPr>
          <a:xfrm>
            <a:off x="548640" y="6172200"/>
            <a:ext cx="11064240" cy="457200"/>
          </a:xfrm>
          <a:prstGeom prst="rect">
            <a:avLst/>
          </a:prstGeom>
          <a:noFill/>
        </p:spPr>
        <p:txBody>
          <a:bodyPr wrap="square" anchor="t" lIns="25400" rIns="25400" tIns="25400" bIns="25400">
            <a:spAutoFit/>
          </a:bodyPr>
          <a:lstStyle/>
          <a:p>
            <a:pPr algn="l">
              <a:lnSpc>
                <a:spcPct val="105000"/>
              </a:lnSpc>
              <a:spcAft>
                <a:spcPts val="400"/>
              </a:spcAft>
            </a:pPr>
            <a:r>
              <a:rPr sz="1200" b="1" i="1">
                <a:solidFill>
                  <a:srgbClr val="4A1F3D"/>
                </a:solidFill>
                <a:latin typeface="Arial"/>
              </a:rPr>
              <a:t>Estimates. </a:t>
            </a:r>
            <a:r>
              <a:rPr sz="1200" b="0" i="1">
                <a:solidFill>
                  <a:srgbClr val="6B6368"/>
                </a:solidFill>
                <a:latin typeface="Arial"/>
              </a:rPr>
              <a:t>Most-uncertain input = annual new-starts; to be validated with a Komodo/Truveta/IQVIA claims slice. No RTM code in Canada → revenue re-routes to benefits + pharmacist channel.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MARKET · INDUSTRY &amp; WHY NOW</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Five inflection points landed in the same 18 months</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06</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ounded Rectangle 7"/>
          <p:cNvSpPr/>
          <p:nvPr/>
        </p:nvSpPr>
        <p:spPr>
          <a:xfrm>
            <a:off x="548640" y="1371600"/>
            <a:ext cx="457200" cy="868680"/>
          </a:xfrm>
          <a:prstGeom prst="round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371600"/>
            <a:ext cx="457200" cy="868680"/>
          </a:xfrm>
          <a:prstGeom prst="rect">
            <a:avLst/>
          </a:prstGeom>
          <a:noFill/>
        </p:spPr>
        <p:txBody>
          <a:bodyPr wrap="square" anchor="ctr" lIns="25400" rIns="25400" tIns="25400" bIns="25400">
            <a:spAutoFit/>
          </a:bodyPr>
          <a:lstStyle/>
          <a:p>
            <a:pPr algn="ctr">
              <a:lnSpc>
                <a:spcPct val="100000"/>
              </a:lnSpc>
              <a:spcAft>
                <a:spcPts val="400"/>
              </a:spcAft>
            </a:pPr>
            <a:r>
              <a:rPr sz="1800" b="1">
                <a:solidFill>
                  <a:srgbClr val="FFFFFF"/>
                </a:solidFill>
                <a:latin typeface="Arial"/>
              </a:rPr>
              <a:t>1</a:t>
            </a:r>
          </a:p>
        </p:txBody>
      </p:sp>
      <p:sp>
        <p:nvSpPr>
          <p:cNvPr id="10" name="TextBox 9"/>
          <p:cNvSpPr txBox="1"/>
          <p:nvPr/>
        </p:nvSpPr>
        <p:spPr>
          <a:xfrm>
            <a:off x="1188720" y="1371600"/>
            <a:ext cx="2194560" cy="868680"/>
          </a:xfrm>
          <a:prstGeom prst="rect">
            <a:avLst/>
          </a:prstGeom>
          <a:noFill/>
        </p:spPr>
        <p:txBody>
          <a:bodyPr wrap="square" anchor="ctr" lIns="25400" rIns="25400" tIns="25400" bIns="25400">
            <a:spAutoFit/>
          </a:bodyPr>
          <a:lstStyle/>
          <a:p>
            <a:pPr algn="l">
              <a:lnSpc>
                <a:spcPct val="100000"/>
              </a:lnSpc>
              <a:spcAft>
                <a:spcPts val="400"/>
              </a:spcAft>
            </a:pPr>
            <a:r>
              <a:rPr sz="1500" b="1">
                <a:solidFill>
                  <a:srgbClr val="4A1F3D"/>
                </a:solidFill>
                <a:latin typeface="Arial"/>
              </a:rPr>
              <a:t>Regulatory</a:t>
            </a:r>
          </a:p>
        </p:txBody>
      </p:sp>
      <p:sp>
        <p:nvSpPr>
          <p:cNvPr id="11" name="TextBox 10"/>
          <p:cNvSpPr txBox="1"/>
          <p:nvPr/>
        </p:nvSpPr>
        <p:spPr>
          <a:xfrm>
            <a:off x="3383280" y="1371600"/>
            <a:ext cx="8229600" cy="868680"/>
          </a:xfrm>
          <a:prstGeom prst="rect">
            <a:avLst/>
          </a:prstGeom>
          <a:noFill/>
        </p:spPr>
        <p:txBody>
          <a:bodyPr wrap="square" anchor="ctr" lIns="25400" rIns="25400" tIns="25400" bIns="25400">
            <a:spAutoFit/>
          </a:bodyPr>
          <a:lstStyle/>
          <a:p>
            <a:pPr algn="l">
              <a:lnSpc>
                <a:spcPct val="105000"/>
              </a:lnSpc>
              <a:spcAft>
                <a:spcPts val="400"/>
              </a:spcAft>
            </a:pPr>
            <a:r>
              <a:rPr sz="1300" b="0">
                <a:solidFill>
                  <a:srgbClr val="2B252A"/>
                </a:solidFill>
                <a:latin typeface="Arial"/>
              </a:rPr>
              <a:t>FDA removed HRT’s 20-year boxed warning (2025). US prescribing +86% since 2021; 1 in 20 women 45–54 now on estrogen.</a:t>
            </a:r>
          </a:p>
        </p:txBody>
      </p:sp>
      <p:sp>
        <p:nvSpPr>
          <p:cNvPr id="12" name="Rounded Rectangle 11"/>
          <p:cNvSpPr/>
          <p:nvPr/>
        </p:nvSpPr>
        <p:spPr>
          <a:xfrm>
            <a:off x="548640" y="2340864"/>
            <a:ext cx="457200" cy="868680"/>
          </a:xfrm>
          <a:prstGeom prst="round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340864"/>
            <a:ext cx="457200" cy="868680"/>
          </a:xfrm>
          <a:prstGeom prst="rect">
            <a:avLst/>
          </a:prstGeom>
          <a:noFill/>
        </p:spPr>
        <p:txBody>
          <a:bodyPr wrap="square" anchor="ctr" lIns="25400" rIns="25400" tIns="25400" bIns="25400">
            <a:spAutoFit/>
          </a:bodyPr>
          <a:lstStyle/>
          <a:p>
            <a:pPr algn="ctr">
              <a:lnSpc>
                <a:spcPct val="100000"/>
              </a:lnSpc>
              <a:spcAft>
                <a:spcPts val="400"/>
              </a:spcAft>
            </a:pPr>
            <a:r>
              <a:rPr sz="1800" b="1">
                <a:solidFill>
                  <a:srgbClr val="FFFFFF"/>
                </a:solidFill>
                <a:latin typeface="Arial"/>
              </a:rPr>
              <a:t>2</a:t>
            </a:r>
          </a:p>
        </p:txBody>
      </p:sp>
      <p:sp>
        <p:nvSpPr>
          <p:cNvPr id="14" name="TextBox 13"/>
          <p:cNvSpPr txBox="1"/>
          <p:nvPr/>
        </p:nvSpPr>
        <p:spPr>
          <a:xfrm>
            <a:off x="1188720" y="2340864"/>
            <a:ext cx="2194560" cy="868680"/>
          </a:xfrm>
          <a:prstGeom prst="rect">
            <a:avLst/>
          </a:prstGeom>
          <a:noFill/>
        </p:spPr>
        <p:txBody>
          <a:bodyPr wrap="square" anchor="ctr" lIns="25400" rIns="25400" tIns="25400" bIns="25400">
            <a:spAutoFit/>
          </a:bodyPr>
          <a:lstStyle/>
          <a:p>
            <a:pPr algn="l">
              <a:lnSpc>
                <a:spcPct val="100000"/>
              </a:lnSpc>
              <a:spcAft>
                <a:spcPts val="400"/>
              </a:spcAft>
            </a:pPr>
            <a:r>
              <a:rPr sz="1500" b="1">
                <a:solidFill>
                  <a:srgbClr val="4A1F3D"/>
                </a:solidFill>
                <a:latin typeface="Arial"/>
              </a:rPr>
              <a:t>Reimbursement</a:t>
            </a:r>
          </a:p>
        </p:txBody>
      </p:sp>
      <p:sp>
        <p:nvSpPr>
          <p:cNvPr id="15" name="TextBox 14"/>
          <p:cNvSpPr txBox="1"/>
          <p:nvPr/>
        </p:nvSpPr>
        <p:spPr>
          <a:xfrm>
            <a:off x="3383280" y="2340864"/>
            <a:ext cx="8229600" cy="868680"/>
          </a:xfrm>
          <a:prstGeom prst="rect">
            <a:avLst/>
          </a:prstGeom>
          <a:noFill/>
        </p:spPr>
        <p:txBody>
          <a:bodyPr wrap="square" anchor="ctr" lIns="25400" rIns="25400" tIns="25400" bIns="25400">
            <a:spAutoFit/>
          </a:bodyPr>
          <a:lstStyle/>
          <a:p>
            <a:pPr algn="l">
              <a:lnSpc>
                <a:spcPct val="105000"/>
              </a:lnSpc>
              <a:spcAft>
                <a:spcPts val="400"/>
              </a:spcAft>
            </a:pPr>
            <a:r>
              <a:rPr sz="1300" b="0">
                <a:solidFill>
                  <a:srgbClr val="2B252A"/>
                </a:solidFill>
                <a:latin typeface="Arial"/>
              </a:rPr>
              <a:t>2026 brought the biggest-ever RTM expansion — treatment-response monitoring is billable per month for the first time.</a:t>
            </a:r>
          </a:p>
        </p:txBody>
      </p:sp>
      <p:sp>
        <p:nvSpPr>
          <p:cNvPr id="16" name="Rounded Rectangle 15"/>
          <p:cNvSpPr/>
          <p:nvPr/>
        </p:nvSpPr>
        <p:spPr>
          <a:xfrm>
            <a:off x="548640" y="3310128"/>
            <a:ext cx="457200" cy="868680"/>
          </a:xfrm>
          <a:prstGeom prst="round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310128"/>
            <a:ext cx="457200" cy="868680"/>
          </a:xfrm>
          <a:prstGeom prst="rect">
            <a:avLst/>
          </a:prstGeom>
          <a:noFill/>
        </p:spPr>
        <p:txBody>
          <a:bodyPr wrap="square" anchor="ctr" lIns="25400" rIns="25400" tIns="25400" bIns="25400">
            <a:spAutoFit/>
          </a:bodyPr>
          <a:lstStyle/>
          <a:p>
            <a:pPr algn="ctr">
              <a:lnSpc>
                <a:spcPct val="100000"/>
              </a:lnSpc>
              <a:spcAft>
                <a:spcPts val="400"/>
              </a:spcAft>
            </a:pPr>
            <a:r>
              <a:rPr sz="1800" b="1">
                <a:solidFill>
                  <a:srgbClr val="FFFFFF"/>
                </a:solidFill>
                <a:latin typeface="Arial"/>
              </a:rPr>
              <a:t>3</a:t>
            </a:r>
          </a:p>
        </p:txBody>
      </p:sp>
      <p:sp>
        <p:nvSpPr>
          <p:cNvPr id="18" name="TextBox 17"/>
          <p:cNvSpPr txBox="1"/>
          <p:nvPr/>
        </p:nvSpPr>
        <p:spPr>
          <a:xfrm>
            <a:off x="1188720" y="3310128"/>
            <a:ext cx="2194560" cy="868680"/>
          </a:xfrm>
          <a:prstGeom prst="rect">
            <a:avLst/>
          </a:prstGeom>
          <a:noFill/>
        </p:spPr>
        <p:txBody>
          <a:bodyPr wrap="square" anchor="ctr" lIns="25400" rIns="25400" tIns="25400" bIns="25400">
            <a:spAutoFit/>
          </a:bodyPr>
          <a:lstStyle/>
          <a:p>
            <a:pPr algn="l">
              <a:lnSpc>
                <a:spcPct val="100000"/>
              </a:lnSpc>
              <a:spcAft>
                <a:spcPts val="400"/>
              </a:spcAft>
            </a:pPr>
            <a:r>
              <a:rPr sz="1500" b="1">
                <a:solidFill>
                  <a:srgbClr val="4A1F3D"/>
                </a:solidFill>
                <a:latin typeface="Arial"/>
              </a:rPr>
              <a:t>Supply</a:t>
            </a:r>
          </a:p>
        </p:txBody>
      </p:sp>
      <p:sp>
        <p:nvSpPr>
          <p:cNvPr id="19" name="TextBox 18"/>
          <p:cNvSpPr txBox="1"/>
          <p:nvPr/>
        </p:nvSpPr>
        <p:spPr>
          <a:xfrm>
            <a:off x="3383280" y="3310128"/>
            <a:ext cx="8229600" cy="868680"/>
          </a:xfrm>
          <a:prstGeom prst="rect">
            <a:avLst/>
          </a:prstGeom>
          <a:noFill/>
        </p:spPr>
        <p:txBody>
          <a:bodyPr wrap="square" anchor="ctr" lIns="25400" rIns="25400" tIns="25400" bIns="25400">
            <a:spAutoFit/>
          </a:bodyPr>
          <a:lstStyle/>
          <a:p>
            <a:pPr algn="l">
              <a:lnSpc>
                <a:spcPct val="105000"/>
              </a:lnSpc>
              <a:spcAft>
                <a:spcPts val="400"/>
              </a:spcAft>
            </a:pPr>
            <a:r>
              <a:rPr sz="1300" b="0">
                <a:solidFill>
                  <a:srgbClr val="2B252A"/>
                </a:solidFill>
                <a:latin typeface="Arial"/>
              </a:rPr>
              <a:t>Virtual menopause clinics reached scale (Midi ~$1B) and now compete on “proof of outcomes” — our data is their renewal ammo.</a:t>
            </a:r>
          </a:p>
        </p:txBody>
      </p:sp>
      <p:sp>
        <p:nvSpPr>
          <p:cNvPr id="20" name="Rounded Rectangle 19"/>
          <p:cNvSpPr/>
          <p:nvPr/>
        </p:nvSpPr>
        <p:spPr>
          <a:xfrm>
            <a:off x="548640" y="4279392"/>
            <a:ext cx="457200" cy="868680"/>
          </a:xfrm>
          <a:prstGeom prst="round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279392"/>
            <a:ext cx="457200" cy="868680"/>
          </a:xfrm>
          <a:prstGeom prst="rect">
            <a:avLst/>
          </a:prstGeom>
          <a:noFill/>
        </p:spPr>
        <p:txBody>
          <a:bodyPr wrap="square" anchor="ctr" lIns="25400" rIns="25400" tIns="25400" bIns="25400">
            <a:spAutoFit/>
          </a:bodyPr>
          <a:lstStyle/>
          <a:p>
            <a:pPr algn="ctr">
              <a:lnSpc>
                <a:spcPct val="100000"/>
              </a:lnSpc>
              <a:spcAft>
                <a:spcPts val="400"/>
              </a:spcAft>
            </a:pPr>
            <a:r>
              <a:rPr sz="1800" b="1">
                <a:solidFill>
                  <a:srgbClr val="FFFFFF"/>
                </a:solidFill>
                <a:latin typeface="Arial"/>
              </a:rPr>
              <a:t>4</a:t>
            </a:r>
          </a:p>
        </p:txBody>
      </p:sp>
      <p:sp>
        <p:nvSpPr>
          <p:cNvPr id="22" name="TextBox 21"/>
          <p:cNvSpPr txBox="1"/>
          <p:nvPr/>
        </p:nvSpPr>
        <p:spPr>
          <a:xfrm>
            <a:off x="1188720" y="4279392"/>
            <a:ext cx="2194560" cy="868680"/>
          </a:xfrm>
          <a:prstGeom prst="rect">
            <a:avLst/>
          </a:prstGeom>
          <a:noFill/>
        </p:spPr>
        <p:txBody>
          <a:bodyPr wrap="square" anchor="ctr" lIns="25400" rIns="25400" tIns="25400" bIns="25400">
            <a:spAutoFit/>
          </a:bodyPr>
          <a:lstStyle/>
          <a:p>
            <a:pPr algn="l">
              <a:lnSpc>
                <a:spcPct val="100000"/>
              </a:lnSpc>
              <a:spcAft>
                <a:spcPts val="400"/>
              </a:spcAft>
            </a:pPr>
            <a:r>
              <a:rPr sz="1500" b="1">
                <a:solidFill>
                  <a:srgbClr val="4A1F3D"/>
                </a:solidFill>
                <a:latin typeface="Arial"/>
              </a:rPr>
              <a:t>Drugs</a:t>
            </a:r>
          </a:p>
        </p:txBody>
      </p:sp>
      <p:sp>
        <p:nvSpPr>
          <p:cNvPr id="23" name="TextBox 22"/>
          <p:cNvSpPr txBox="1"/>
          <p:nvPr/>
        </p:nvSpPr>
        <p:spPr>
          <a:xfrm>
            <a:off x="3383280" y="4279392"/>
            <a:ext cx="8229600" cy="868680"/>
          </a:xfrm>
          <a:prstGeom prst="rect">
            <a:avLst/>
          </a:prstGeom>
          <a:noFill/>
        </p:spPr>
        <p:txBody>
          <a:bodyPr wrap="square" anchor="ctr" lIns="25400" rIns="25400" tIns="25400" bIns="25400">
            <a:spAutoFit/>
          </a:bodyPr>
          <a:lstStyle/>
          <a:p>
            <a:pPr algn="l">
              <a:lnSpc>
                <a:spcPct val="105000"/>
              </a:lnSpc>
              <a:spcAft>
                <a:spcPts val="400"/>
              </a:spcAft>
            </a:pPr>
            <a:r>
              <a:rPr sz="1300" b="0">
                <a:solidFill>
                  <a:srgbClr val="2B252A"/>
                </a:solidFill>
                <a:latin typeface="Arial"/>
              </a:rPr>
              <a:t>Two non-hormonal launches (Veozah 2023, Lynkuet 2025) head-to-head — both need differentiating real-world evidence.</a:t>
            </a:r>
          </a:p>
        </p:txBody>
      </p:sp>
      <p:sp>
        <p:nvSpPr>
          <p:cNvPr id="24" name="Rounded Rectangle 23"/>
          <p:cNvSpPr/>
          <p:nvPr/>
        </p:nvSpPr>
        <p:spPr>
          <a:xfrm>
            <a:off x="548640" y="5248656"/>
            <a:ext cx="457200" cy="868680"/>
          </a:xfrm>
          <a:prstGeom prst="round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248656"/>
            <a:ext cx="457200" cy="868680"/>
          </a:xfrm>
          <a:prstGeom prst="rect">
            <a:avLst/>
          </a:prstGeom>
          <a:noFill/>
        </p:spPr>
        <p:txBody>
          <a:bodyPr wrap="square" anchor="ctr" lIns="25400" rIns="25400" tIns="25400" bIns="25400">
            <a:spAutoFit/>
          </a:bodyPr>
          <a:lstStyle/>
          <a:p>
            <a:pPr algn="ctr">
              <a:lnSpc>
                <a:spcPct val="100000"/>
              </a:lnSpc>
              <a:spcAft>
                <a:spcPts val="400"/>
              </a:spcAft>
            </a:pPr>
            <a:r>
              <a:rPr sz="1800" b="1">
                <a:solidFill>
                  <a:srgbClr val="FFFFFF"/>
                </a:solidFill>
                <a:latin typeface="Arial"/>
              </a:rPr>
              <a:t>5</a:t>
            </a:r>
          </a:p>
        </p:txBody>
      </p:sp>
      <p:sp>
        <p:nvSpPr>
          <p:cNvPr id="26" name="TextBox 25"/>
          <p:cNvSpPr txBox="1"/>
          <p:nvPr/>
        </p:nvSpPr>
        <p:spPr>
          <a:xfrm>
            <a:off x="1188720" y="5248656"/>
            <a:ext cx="2194560" cy="868680"/>
          </a:xfrm>
          <a:prstGeom prst="rect">
            <a:avLst/>
          </a:prstGeom>
          <a:noFill/>
        </p:spPr>
        <p:txBody>
          <a:bodyPr wrap="square" anchor="ctr" lIns="25400" rIns="25400" tIns="25400" bIns="25400">
            <a:spAutoFit/>
          </a:bodyPr>
          <a:lstStyle/>
          <a:p>
            <a:pPr algn="l">
              <a:lnSpc>
                <a:spcPct val="100000"/>
              </a:lnSpc>
              <a:spcAft>
                <a:spcPts val="400"/>
              </a:spcAft>
            </a:pPr>
            <a:r>
              <a:rPr sz="1500" b="1">
                <a:solidFill>
                  <a:srgbClr val="4A1F3D"/>
                </a:solidFill>
                <a:latin typeface="Arial"/>
              </a:rPr>
              <a:t>Window</a:t>
            </a:r>
          </a:p>
        </p:txBody>
      </p:sp>
      <p:sp>
        <p:nvSpPr>
          <p:cNvPr id="27" name="TextBox 26"/>
          <p:cNvSpPr txBox="1"/>
          <p:nvPr/>
        </p:nvSpPr>
        <p:spPr>
          <a:xfrm>
            <a:off x="3383280" y="5248656"/>
            <a:ext cx="8229600" cy="868680"/>
          </a:xfrm>
          <a:prstGeom prst="rect">
            <a:avLst/>
          </a:prstGeom>
          <a:noFill/>
        </p:spPr>
        <p:txBody>
          <a:bodyPr wrap="square" anchor="ctr" lIns="25400" rIns="25400" tIns="25400" bIns="25400">
            <a:spAutoFit/>
          </a:bodyPr>
          <a:lstStyle/>
          <a:p>
            <a:pPr algn="l">
              <a:lnSpc>
                <a:spcPct val="105000"/>
              </a:lnSpc>
              <a:spcAft>
                <a:spcPts val="400"/>
              </a:spcAft>
            </a:pPr>
            <a:r>
              <a:rPr sz="1300" b="0">
                <a:solidFill>
                  <a:srgbClr val="2B252A"/>
                </a:solidFill>
                <a:latin typeface="Arial"/>
              </a:rPr>
              <a:t>Fertility’s history rhymes: 2026–2028 is the payer-consolidation window. The measurement layer must claim its spot before a category winner internalises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COMPETITION</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Everyone touches the patient — nobody owns the titration loop</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07</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ectangle 7"/>
          <p:cNvSpPr/>
          <p:nvPr/>
        </p:nvSpPr>
        <p:spPr>
          <a:xfrm>
            <a:off x="548640" y="1371600"/>
            <a:ext cx="3566160" cy="914400"/>
          </a:xfrm>
          <a:prstGeom prst="rect">
            <a:avLst/>
          </a:prstGeom>
          <a:solidFill>
            <a:srgbClr val="4A1F3D"/>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0" y="1371600"/>
            <a:ext cx="3657600" cy="914400"/>
          </a:xfrm>
          <a:prstGeom prst="rect">
            <a:avLst/>
          </a:prstGeom>
          <a:solidFill>
            <a:srgbClr val="4A1F3D"/>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0" y="1371600"/>
            <a:ext cx="3840480" cy="914400"/>
          </a:xfrm>
          <a:prstGeom prst="rect">
            <a:avLst/>
          </a:prstGeom>
          <a:solidFill>
            <a:srgbClr val="4A1F3D"/>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371600"/>
            <a:ext cx="3383280" cy="914400"/>
          </a:xfrm>
          <a:prstGeom prst="rect">
            <a:avLst/>
          </a:prstGeom>
          <a:noFill/>
        </p:spPr>
        <p:txBody>
          <a:bodyPr wrap="square" anchor="ctr" lIns="25400" rIns="25400" tIns="25400" bIns="25400">
            <a:spAutoFit/>
          </a:bodyPr>
          <a:lstStyle/>
          <a:p>
            <a:pPr algn="l">
              <a:lnSpc>
                <a:spcPct val="100000"/>
              </a:lnSpc>
              <a:spcAft>
                <a:spcPts val="400"/>
              </a:spcAft>
            </a:pPr>
            <a:r>
              <a:rPr sz="1300" b="1">
                <a:solidFill>
                  <a:srgbClr val="FFFFFF"/>
                </a:solidFill>
                <a:latin typeface="Arial"/>
              </a:rPr>
              <a:t>Category</a:t>
            </a:r>
          </a:p>
        </p:txBody>
      </p:sp>
      <p:sp>
        <p:nvSpPr>
          <p:cNvPr id="12" name="TextBox 11"/>
          <p:cNvSpPr txBox="1"/>
          <p:nvPr/>
        </p:nvSpPr>
        <p:spPr>
          <a:xfrm>
            <a:off x="4224528" y="1371600"/>
            <a:ext cx="3474720" cy="914400"/>
          </a:xfrm>
          <a:prstGeom prst="rect">
            <a:avLst/>
          </a:prstGeom>
          <a:noFill/>
        </p:spPr>
        <p:txBody>
          <a:bodyPr wrap="square" anchor="ctr" lIns="25400" rIns="25400" tIns="25400" bIns="25400">
            <a:spAutoFit/>
          </a:bodyPr>
          <a:lstStyle/>
          <a:p>
            <a:pPr algn="l">
              <a:lnSpc>
                <a:spcPct val="100000"/>
              </a:lnSpc>
              <a:spcAft>
                <a:spcPts val="400"/>
              </a:spcAft>
            </a:pPr>
            <a:r>
              <a:rPr sz="1250" b="1">
                <a:solidFill>
                  <a:srgbClr val="FFFFFF"/>
                </a:solidFill>
                <a:latin typeface="Arial"/>
              </a:rPr>
              <a:t>What they have</a:t>
            </a:r>
          </a:p>
        </p:txBody>
      </p:sp>
      <p:sp>
        <p:nvSpPr>
          <p:cNvPr id="13" name="TextBox 12"/>
          <p:cNvSpPr txBox="1"/>
          <p:nvPr/>
        </p:nvSpPr>
        <p:spPr>
          <a:xfrm>
            <a:off x="7882128" y="1371600"/>
            <a:ext cx="3657600" cy="914400"/>
          </a:xfrm>
          <a:prstGeom prst="rect">
            <a:avLst/>
          </a:prstGeom>
          <a:noFill/>
        </p:spPr>
        <p:txBody>
          <a:bodyPr wrap="square" anchor="ctr" lIns="25400" rIns="25400" tIns="25400" bIns="25400">
            <a:spAutoFit/>
          </a:bodyPr>
          <a:lstStyle/>
          <a:p>
            <a:pPr algn="l">
              <a:lnSpc>
                <a:spcPct val="100000"/>
              </a:lnSpc>
              <a:spcAft>
                <a:spcPts val="400"/>
              </a:spcAft>
            </a:pPr>
            <a:r>
              <a:rPr sz="1250" b="1">
                <a:solidFill>
                  <a:srgbClr val="FFFFFF"/>
                </a:solidFill>
                <a:latin typeface="Arial"/>
              </a:rPr>
              <a:t>Structural gap</a:t>
            </a:r>
          </a:p>
        </p:txBody>
      </p:sp>
      <p:sp>
        <p:nvSpPr>
          <p:cNvPr id="14" name="Rectangle 13"/>
          <p:cNvSpPr/>
          <p:nvPr/>
        </p:nvSpPr>
        <p:spPr>
          <a:xfrm>
            <a:off x="548640" y="2286000"/>
            <a:ext cx="3566160" cy="914400"/>
          </a:xfrm>
          <a:prstGeom prst="rect">
            <a:avLst/>
          </a:prstGeom>
          <a:solidFill>
            <a:srgbClr val="FBF8FA"/>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0" y="2286000"/>
            <a:ext cx="3657600" cy="914400"/>
          </a:xfrm>
          <a:prstGeom prst="rect">
            <a:avLst/>
          </a:prstGeom>
          <a:solidFill>
            <a:srgbClr val="FBF8FA"/>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0" y="2286000"/>
            <a:ext cx="3840480" cy="914400"/>
          </a:xfrm>
          <a:prstGeom prst="rect">
            <a:avLst/>
          </a:prstGeom>
          <a:solidFill>
            <a:srgbClr val="FBF8FA"/>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286000"/>
            <a:ext cx="3383280" cy="914400"/>
          </a:xfrm>
          <a:prstGeom prst="rect">
            <a:avLst/>
          </a:prstGeom>
          <a:noFill/>
        </p:spPr>
        <p:txBody>
          <a:bodyPr wrap="square" anchor="ctr" lIns="25400" rIns="25400" tIns="25400" bIns="25400">
            <a:spAutoFit/>
          </a:bodyPr>
          <a:lstStyle/>
          <a:p>
            <a:pPr algn="l">
              <a:lnSpc>
                <a:spcPct val="100000"/>
              </a:lnSpc>
              <a:spcAft>
                <a:spcPts val="400"/>
              </a:spcAft>
            </a:pPr>
            <a:r>
              <a:rPr sz="1250" b="1">
                <a:solidFill>
                  <a:srgbClr val="4A1F3D"/>
                </a:solidFill>
                <a:latin typeface="Arial"/>
              </a:rPr>
              <a:t>Virtual clinics (Midi, Evernow, Blair CA)</a:t>
            </a:r>
          </a:p>
        </p:txBody>
      </p:sp>
      <p:sp>
        <p:nvSpPr>
          <p:cNvPr id="18" name="TextBox 17"/>
          <p:cNvSpPr txBox="1"/>
          <p:nvPr/>
        </p:nvSpPr>
        <p:spPr>
          <a:xfrm>
            <a:off x="4224528" y="2286000"/>
            <a:ext cx="3474720" cy="914400"/>
          </a:xfrm>
          <a:prstGeom prst="rect">
            <a:avLst/>
          </a:prstGeom>
          <a:noFill/>
        </p:spPr>
        <p:txBody>
          <a:bodyPr wrap="square" anchor="ctr" lIns="25400" rIns="25400" tIns="25400" bIns="25400">
            <a:spAutoFit/>
          </a:bodyPr>
          <a:lstStyle/>
          <a:p>
            <a:pPr algn="l">
              <a:lnSpc>
                <a:spcPct val="100000"/>
              </a:lnSpc>
              <a:spcAft>
                <a:spcPts val="400"/>
              </a:spcAft>
            </a:pPr>
            <a:r>
              <a:rPr sz="1250" b="0">
                <a:solidFill>
                  <a:srgbClr val="2B252A"/>
                </a:solidFill>
                <a:latin typeface="Arial"/>
              </a:rPr>
              <a:t>6–12 wk video visits + reactive messaging</a:t>
            </a:r>
          </a:p>
        </p:txBody>
      </p:sp>
      <p:sp>
        <p:nvSpPr>
          <p:cNvPr id="19" name="TextBox 18"/>
          <p:cNvSpPr txBox="1"/>
          <p:nvPr/>
        </p:nvSpPr>
        <p:spPr>
          <a:xfrm>
            <a:off x="7882128" y="2286000"/>
            <a:ext cx="3657600" cy="914400"/>
          </a:xfrm>
          <a:prstGeom prst="rect">
            <a:avLst/>
          </a:prstGeom>
          <a:noFill/>
        </p:spPr>
        <p:txBody>
          <a:bodyPr wrap="square" anchor="ctr" lIns="25400" rIns="25400" tIns="25400" bIns="25400">
            <a:spAutoFit/>
          </a:bodyPr>
          <a:lstStyle/>
          <a:p>
            <a:pPr algn="l">
              <a:lnSpc>
                <a:spcPct val="100000"/>
              </a:lnSpc>
              <a:spcAft>
                <a:spcPts val="400"/>
              </a:spcAft>
            </a:pPr>
            <a:r>
              <a:rPr sz="1250" b="0">
                <a:solidFill>
                  <a:srgbClr val="2B252A"/>
                </a:solidFill>
                <a:latin typeface="Arial"/>
              </a:rPr>
              <a:t>Point-sampling; passive inbox; blind weeks 2–5</a:t>
            </a:r>
          </a:p>
        </p:txBody>
      </p:sp>
      <p:sp>
        <p:nvSpPr>
          <p:cNvPr id="20" name="Rectangle 19"/>
          <p:cNvSpPr/>
          <p:nvPr/>
        </p:nvSpPr>
        <p:spPr>
          <a:xfrm>
            <a:off x="548640" y="3200400"/>
            <a:ext cx="3566160" cy="914400"/>
          </a:xfrm>
          <a:prstGeom prst="rect">
            <a:avLst/>
          </a:prstGeom>
          <a:solidFill>
            <a:srgbClr val="F6F1F4"/>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3200400"/>
            <a:ext cx="3657600" cy="914400"/>
          </a:xfrm>
          <a:prstGeom prst="rect">
            <a:avLst/>
          </a:prstGeom>
          <a:solidFill>
            <a:srgbClr val="F6F1F4"/>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0" y="3200400"/>
            <a:ext cx="3840480" cy="914400"/>
          </a:xfrm>
          <a:prstGeom prst="rect">
            <a:avLst/>
          </a:prstGeom>
          <a:solidFill>
            <a:srgbClr val="F6F1F4"/>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200400"/>
            <a:ext cx="3383280" cy="914400"/>
          </a:xfrm>
          <a:prstGeom prst="rect">
            <a:avLst/>
          </a:prstGeom>
          <a:noFill/>
        </p:spPr>
        <p:txBody>
          <a:bodyPr wrap="square" anchor="ctr" lIns="25400" rIns="25400" tIns="25400" bIns="25400">
            <a:spAutoFit/>
          </a:bodyPr>
          <a:lstStyle/>
          <a:p>
            <a:pPr algn="l">
              <a:lnSpc>
                <a:spcPct val="100000"/>
              </a:lnSpc>
              <a:spcAft>
                <a:spcPts val="400"/>
              </a:spcAft>
            </a:pPr>
            <a:r>
              <a:rPr sz="1250" b="1">
                <a:solidFill>
                  <a:srgbClr val="4A1F3D"/>
                </a:solidFill>
                <a:latin typeface="Arial"/>
              </a:rPr>
              <a:t>Tracker apps (Balance, HRTMe)</a:t>
            </a:r>
          </a:p>
        </p:txBody>
      </p:sp>
      <p:sp>
        <p:nvSpPr>
          <p:cNvPr id="24" name="TextBox 23"/>
          <p:cNvSpPr txBox="1"/>
          <p:nvPr/>
        </p:nvSpPr>
        <p:spPr>
          <a:xfrm>
            <a:off x="4224528" y="3200400"/>
            <a:ext cx="3474720" cy="914400"/>
          </a:xfrm>
          <a:prstGeom prst="rect">
            <a:avLst/>
          </a:prstGeom>
          <a:noFill/>
        </p:spPr>
        <p:txBody>
          <a:bodyPr wrap="square" anchor="ctr" lIns="25400" rIns="25400" tIns="25400" bIns="25400">
            <a:spAutoFit/>
          </a:bodyPr>
          <a:lstStyle/>
          <a:p>
            <a:pPr algn="l">
              <a:lnSpc>
                <a:spcPct val="100000"/>
              </a:lnSpc>
              <a:spcAft>
                <a:spcPts val="400"/>
              </a:spcAft>
            </a:pPr>
            <a:r>
              <a:rPr sz="1250" b="0">
                <a:solidFill>
                  <a:srgbClr val="2B252A"/>
                </a:solidFill>
                <a:latin typeface="Arial"/>
              </a:rPr>
              <a:t>Symptom diary</a:t>
            </a:r>
          </a:p>
        </p:txBody>
      </p:sp>
      <p:sp>
        <p:nvSpPr>
          <p:cNvPr id="25" name="TextBox 24"/>
          <p:cNvSpPr txBox="1"/>
          <p:nvPr/>
        </p:nvSpPr>
        <p:spPr>
          <a:xfrm>
            <a:off x="7882128" y="3200400"/>
            <a:ext cx="3657600" cy="914400"/>
          </a:xfrm>
          <a:prstGeom prst="rect">
            <a:avLst/>
          </a:prstGeom>
          <a:noFill/>
        </p:spPr>
        <p:txBody>
          <a:bodyPr wrap="square" anchor="ctr" lIns="25400" rIns="25400" tIns="25400" bIns="25400">
            <a:spAutoFit/>
          </a:bodyPr>
          <a:lstStyle/>
          <a:p>
            <a:pPr algn="l">
              <a:lnSpc>
                <a:spcPct val="100000"/>
              </a:lnSpc>
              <a:spcAft>
                <a:spcPts val="400"/>
              </a:spcAft>
            </a:pPr>
            <a:r>
              <a:rPr sz="1250" b="0">
                <a:solidFill>
                  <a:srgbClr val="2B252A"/>
                </a:solidFill>
                <a:latin typeface="Arial"/>
              </a:rPr>
              <a:t>No dose-alignment, no clinical loop, no billing</a:t>
            </a:r>
          </a:p>
        </p:txBody>
      </p:sp>
      <p:sp>
        <p:nvSpPr>
          <p:cNvPr id="26" name="Rectangle 25"/>
          <p:cNvSpPr/>
          <p:nvPr/>
        </p:nvSpPr>
        <p:spPr>
          <a:xfrm>
            <a:off x="548640" y="4114800"/>
            <a:ext cx="3566160" cy="914400"/>
          </a:xfrm>
          <a:prstGeom prst="rect">
            <a:avLst/>
          </a:prstGeom>
          <a:solidFill>
            <a:srgbClr val="FBF8FA"/>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0" y="4114800"/>
            <a:ext cx="3657600" cy="914400"/>
          </a:xfrm>
          <a:prstGeom prst="rect">
            <a:avLst/>
          </a:prstGeom>
          <a:solidFill>
            <a:srgbClr val="FBF8FA"/>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0" y="4114800"/>
            <a:ext cx="3840480" cy="914400"/>
          </a:xfrm>
          <a:prstGeom prst="rect">
            <a:avLst/>
          </a:prstGeom>
          <a:solidFill>
            <a:srgbClr val="FBF8FA"/>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114800"/>
            <a:ext cx="3383280" cy="914400"/>
          </a:xfrm>
          <a:prstGeom prst="rect">
            <a:avLst/>
          </a:prstGeom>
          <a:noFill/>
        </p:spPr>
        <p:txBody>
          <a:bodyPr wrap="square" anchor="ctr" lIns="25400" rIns="25400" tIns="25400" bIns="25400">
            <a:spAutoFit/>
          </a:bodyPr>
          <a:lstStyle/>
          <a:p>
            <a:pPr algn="l">
              <a:lnSpc>
                <a:spcPct val="100000"/>
              </a:lnSpc>
              <a:spcAft>
                <a:spcPts val="400"/>
              </a:spcAft>
            </a:pPr>
            <a:r>
              <a:rPr sz="1250" b="1">
                <a:solidFill>
                  <a:srgbClr val="4A1F3D"/>
                </a:solidFill>
                <a:latin typeface="Arial"/>
              </a:rPr>
              <a:t>Hormone hardware (Clair, Eli)</a:t>
            </a:r>
          </a:p>
        </p:txBody>
      </p:sp>
      <p:sp>
        <p:nvSpPr>
          <p:cNvPr id="30" name="TextBox 29"/>
          <p:cNvSpPr txBox="1"/>
          <p:nvPr/>
        </p:nvSpPr>
        <p:spPr>
          <a:xfrm>
            <a:off x="4224528" y="4114800"/>
            <a:ext cx="3474720" cy="914400"/>
          </a:xfrm>
          <a:prstGeom prst="rect">
            <a:avLst/>
          </a:prstGeom>
          <a:noFill/>
        </p:spPr>
        <p:txBody>
          <a:bodyPr wrap="square" anchor="ctr" lIns="25400" rIns="25400" tIns="25400" bIns="25400">
            <a:spAutoFit/>
          </a:bodyPr>
          <a:lstStyle/>
          <a:p>
            <a:pPr algn="l">
              <a:lnSpc>
                <a:spcPct val="100000"/>
              </a:lnSpc>
              <a:spcAft>
                <a:spcPts val="400"/>
              </a:spcAft>
            </a:pPr>
            <a:r>
              <a:rPr sz="1250" b="0">
                <a:solidFill>
                  <a:srgbClr val="2B252A"/>
                </a:solidFill>
                <a:latin typeface="Arial"/>
              </a:rPr>
              <a:t>Hormone levels (inferred / tested)</a:t>
            </a:r>
          </a:p>
        </p:txBody>
      </p:sp>
      <p:sp>
        <p:nvSpPr>
          <p:cNvPr id="31" name="TextBox 30"/>
          <p:cNvSpPr txBox="1"/>
          <p:nvPr/>
        </p:nvSpPr>
        <p:spPr>
          <a:xfrm>
            <a:off x="7882128" y="4114800"/>
            <a:ext cx="3657600" cy="914400"/>
          </a:xfrm>
          <a:prstGeom prst="rect">
            <a:avLst/>
          </a:prstGeom>
          <a:noFill/>
        </p:spPr>
        <p:txBody>
          <a:bodyPr wrap="square" anchor="ctr" lIns="25400" rIns="25400" tIns="25400" bIns="25400">
            <a:spAutoFit/>
          </a:bodyPr>
          <a:lstStyle/>
          <a:p>
            <a:pPr algn="l">
              <a:lnSpc>
                <a:spcPct val="100000"/>
              </a:lnSpc>
              <a:spcAft>
                <a:spcPts val="400"/>
              </a:spcAft>
            </a:pPr>
            <a:r>
              <a:rPr sz="1250" b="0">
                <a:solidFill>
                  <a:srgbClr val="2B252A"/>
                </a:solidFill>
                <a:latin typeface="Arial"/>
              </a:rPr>
              <a:t>Not the variable guidelines dose by</a:t>
            </a:r>
          </a:p>
        </p:txBody>
      </p:sp>
      <p:sp>
        <p:nvSpPr>
          <p:cNvPr id="32" name="Rectangle 31"/>
          <p:cNvSpPr/>
          <p:nvPr/>
        </p:nvSpPr>
        <p:spPr>
          <a:xfrm>
            <a:off x="548640" y="5029200"/>
            <a:ext cx="3566160" cy="914400"/>
          </a:xfrm>
          <a:prstGeom prst="rect">
            <a:avLst/>
          </a:prstGeom>
          <a:solidFill>
            <a:srgbClr val="F6F1F4"/>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0" y="5029200"/>
            <a:ext cx="3657600" cy="914400"/>
          </a:xfrm>
          <a:prstGeom prst="rect">
            <a:avLst/>
          </a:prstGeom>
          <a:solidFill>
            <a:srgbClr val="F6F1F4"/>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0" y="5029200"/>
            <a:ext cx="3840480" cy="914400"/>
          </a:xfrm>
          <a:prstGeom prst="rect">
            <a:avLst/>
          </a:prstGeom>
          <a:solidFill>
            <a:srgbClr val="F6F1F4"/>
          </a:solidFill>
          <a:ln w="635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029200"/>
            <a:ext cx="3383280" cy="914400"/>
          </a:xfrm>
          <a:prstGeom prst="rect">
            <a:avLst/>
          </a:prstGeom>
          <a:noFill/>
        </p:spPr>
        <p:txBody>
          <a:bodyPr wrap="square" anchor="ctr" lIns="25400" rIns="25400" tIns="25400" bIns="25400">
            <a:spAutoFit/>
          </a:bodyPr>
          <a:lstStyle/>
          <a:p>
            <a:pPr algn="l">
              <a:lnSpc>
                <a:spcPct val="100000"/>
              </a:lnSpc>
              <a:spcAft>
                <a:spcPts val="400"/>
              </a:spcAft>
            </a:pPr>
            <a:r>
              <a:rPr sz="1250" b="1">
                <a:solidFill>
                  <a:srgbClr val="4A1F3D"/>
                </a:solidFill>
                <a:latin typeface="Arial"/>
              </a:rPr>
              <a:t>Big-device makers / Apple Health</a:t>
            </a:r>
          </a:p>
        </p:txBody>
      </p:sp>
      <p:sp>
        <p:nvSpPr>
          <p:cNvPr id="36" name="TextBox 35"/>
          <p:cNvSpPr txBox="1"/>
          <p:nvPr/>
        </p:nvSpPr>
        <p:spPr>
          <a:xfrm>
            <a:off x="4224528" y="5029200"/>
            <a:ext cx="3474720" cy="914400"/>
          </a:xfrm>
          <a:prstGeom prst="rect">
            <a:avLst/>
          </a:prstGeom>
          <a:noFill/>
        </p:spPr>
        <p:txBody>
          <a:bodyPr wrap="square" anchor="ctr" lIns="25400" rIns="25400" tIns="25400" bIns="25400">
            <a:spAutoFit/>
          </a:bodyPr>
          <a:lstStyle/>
          <a:p>
            <a:pPr algn="l">
              <a:lnSpc>
                <a:spcPct val="100000"/>
              </a:lnSpc>
              <a:spcAft>
                <a:spcPts val="400"/>
              </a:spcAft>
            </a:pPr>
            <a:r>
              <a:rPr sz="1250" b="0">
                <a:solidFill>
                  <a:srgbClr val="2B252A"/>
                </a:solidFill>
                <a:latin typeface="Arial"/>
              </a:rPr>
              <a:t>Mature sleep/weight tracking; could bundle follow-up Qs</a:t>
            </a:r>
          </a:p>
        </p:txBody>
      </p:sp>
      <p:sp>
        <p:nvSpPr>
          <p:cNvPr id="37" name="TextBox 36"/>
          <p:cNvSpPr txBox="1"/>
          <p:nvPr/>
        </p:nvSpPr>
        <p:spPr>
          <a:xfrm>
            <a:off x="7882128" y="5029200"/>
            <a:ext cx="3657600" cy="914400"/>
          </a:xfrm>
          <a:prstGeom prst="rect">
            <a:avLst/>
          </a:prstGeom>
          <a:noFill/>
        </p:spPr>
        <p:txBody>
          <a:bodyPr wrap="square" anchor="ctr" lIns="25400" rIns="25400" tIns="25400" bIns="25400">
            <a:spAutoFit/>
          </a:bodyPr>
          <a:lstStyle/>
          <a:p>
            <a:pPr algn="l">
              <a:lnSpc>
                <a:spcPct val="100000"/>
              </a:lnSpc>
              <a:spcAft>
                <a:spcPts val="400"/>
              </a:spcAft>
            </a:pPr>
            <a:r>
              <a:rPr sz="1250" b="1">
                <a:solidFill>
                  <a:srgbClr val="C96F8A"/>
                </a:solidFill>
                <a:latin typeface="Arial"/>
              </a:rPr>
              <a:t>Horizontal data collection — not treatment management</a:t>
            </a:r>
          </a:p>
        </p:txBody>
      </p:sp>
      <p:sp>
        <p:nvSpPr>
          <p:cNvPr id="38" name="TextBox 37"/>
          <p:cNvSpPr txBox="1"/>
          <p:nvPr/>
        </p:nvSpPr>
        <p:spPr>
          <a:xfrm>
            <a:off x="548640" y="6126480"/>
            <a:ext cx="11064240" cy="457200"/>
          </a:xfrm>
          <a:prstGeom prst="rect">
            <a:avLst/>
          </a:prstGeom>
          <a:noFill/>
        </p:spPr>
        <p:txBody>
          <a:bodyPr wrap="square" anchor="t" lIns="25400" rIns="25400" tIns="25400" bIns="25400">
            <a:spAutoFit/>
          </a:bodyPr>
          <a:lstStyle/>
          <a:p>
            <a:pPr algn="l">
              <a:lnSpc>
                <a:spcPct val="105000"/>
              </a:lnSpc>
              <a:spcAft>
                <a:spcPts val="400"/>
              </a:spcAft>
            </a:pPr>
            <a:r>
              <a:rPr sz="1300" b="1">
                <a:solidFill>
                  <a:srgbClr val="4A1F3D"/>
                </a:solidFill>
                <a:latin typeface="Arial"/>
              </a:rPr>
              <a:t>The device threat, answered: </a:t>
            </a:r>
            <a:r>
              <a:rPr sz="1300" b="0">
                <a:solidFill>
                  <a:srgbClr val="2B252A"/>
                </a:solidFill>
                <a:latin typeface="Arial"/>
              </a:rPr>
              <a:t>sensors and diaries are the collection layer — their data flows INTO our treatment loop. Glucometers didn’t kill diabetes-management; they created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UNIQUE VALUE PROPOSITION</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The titration crisis doesn’t happen during the appointment</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08</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ounded Rectangle 7"/>
          <p:cNvSpPr/>
          <p:nvPr/>
        </p:nvSpPr>
        <p:spPr>
          <a:xfrm>
            <a:off x="548640" y="1325880"/>
            <a:ext cx="11064240" cy="1051560"/>
          </a:xfrm>
          <a:prstGeom prst="round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325880"/>
            <a:ext cx="10515600" cy="1051560"/>
          </a:xfrm>
          <a:prstGeom prst="rect">
            <a:avLst/>
          </a:prstGeom>
          <a:noFill/>
        </p:spPr>
        <p:txBody>
          <a:bodyPr wrap="square" anchor="ctr" lIns="25400" rIns="25400" tIns="25400" bIns="25400">
            <a:spAutoFit/>
          </a:bodyPr>
          <a:lstStyle/>
          <a:p>
            <a:pPr algn="l">
              <a:lnSpc>
                <a:spcPct val="110000"/>
              </a:lnSpc>
              <a:spcAft>
                <a:spcPts val="400"/>
              </a:spcAft>
            </a:pPr>
            <a:r>
              <a:rPr sz="1500" b="0">
                <a:solidFill>
                  <a:srgbClr val="FFFFFF"/>
                </a:solidFill>
                <a:latin typeface="Arial"/>
              </a:rPr>
              <a:t>“Cardiology always had follow-ups — iRhythm still built a billion-dollar company because </a:t>
            </a:r>
            <a:r>
              <a:rPr sz="1500" b="1">
                <a:solidFill>
                  <a:srgbClr val="C89B3C"/>
                </a:solidFill>
                <a:latin typeface="Arial"/>
              </a:rPr>
              <a:t>arrhythmias don’t happen in the clinic</a:t>
            </a:r>
            <a:r>
              <a:rPr sz="1500" b="0">
                <a:solidFill>
                  <a:srgbClr val="FFFFFF"/>
                </a:solidFill>
                <a:latin typeface="Arial"/>
              </a:rPr>
              <a:t>.” We are the ambulatory monitor for hormone therapy.</a:t>
            </a:r>
          </a:p>
        </p:txBody>
      </p:sp>
      <p:sp>
        <p:nvSpPr>
          <p:cNvPr id="10" name="Rounded Rectangle 9"/>
          <p:cNvSpPr/>
          <p:nvPr/>
        </p:nvSpPr>
        <p:spPr>
          <a:xfrm>
            <a:off x="548640" y="2697480"/>
            <a:ext cx="3602736" cy="141732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07208"/>
            <a:ext cx="3236976" cy="548640"/>
          </a:xfrm>
          <a:prstGeom prst="rect">
            <a:avLst/>
          </a:prstGeom>
          <a:noFill/>
        </p:spPr>
        <p:txBody>
          <a:bodyPr wrap="square" anchor="t" lIns="25400" rIns="25400" tIns="25400" bIns="25400">
            <a:spAutoFit/>
          </a:bodyPr>
          <a:lstStyle/>
          <a:p>
            <a:pPr algn="l">
              <a:lnSpc>
                <a:spcPct val="100000"/>
              </a:lnSpc>
              <a:spcAft>
                <a:spcPts val="400"/>
              </a:spcAft>
            </a:pPr>
            <a:r>
              <a:rPr sz="1350" b="1">
                <a:solidFill>
                  <a:srgbClr val="4A1F3D"/>
                </a:solidFill>
                <a:latin typeface="Arial"/>
              </a:rPr>
              <a:t>Continuous, not point-sampled</a:t>
            </a:r>
          </a:p>
        </p:txBody>
      </p:sp>
      <p:sp>
        <p:nvSpPr>
          <p:cNvPr id="12" name="TextBox 11"/>
          <p:cNvSpPr txBox="1"/>
          <p:nvPr/>
        </p:nvSpPr>
        <p:spPr>
          <a:xfrm>
            <a:off x="731520" y="3355848"/>
            <a:ext cx="3236976" cy="731520"/>
          </a:xfrm>
          <a:prstGeom prst="rect">
            <a:avLst/>
          </a:prstGeom>
          <a:noFill/>
        </p:spPr>
        <p:txBody>
          <a:bodyPr wrap="square" anchor="t" lIns="25400" rIns="25400" tIns="25400" bIns="25400">
            <a:spAutoFit/>
          </a:bodyPr>
          <a:lstStyle/>
          <a:p>
            <a:pPr algn="l">
              <a:lnSpc>
                <a:spcPct val="102000"/>
              </a:lnSpc>
              <a:spcAft>
                <a:spcPts val="400"/>
              </a:spcAft>
            </a:pPr>
            <a:r>
              <a:rPr sz="1200" b="0">
                <a:solidFill>
                  <a:srgbClr val="2B252A"/>
                </a:solidFill>
                <a:latin typeface="Arial"/>
              </a:rPr>
              <a:t>We upgrade the input to the same visit — record, not recall.</a:t>
            </a:r>
          </a:p>
        </p:txBody>
      </p:sp>
      <p:sp>
        <p:nvSpPr>
          <p:cNvPr id="13" name="Rounded Rectangle 12"/>
          <p:cNvSpPr/>
          <p:nvPr/>
        </p:nvSpPr>
        <p:spPr>
          <a:xfrm>
            <a:off x="4279392" y="2697480"/>
            <a:ext cx="3602736" cy="141732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807208"/>
            <a:ext cx="3236976" cy="548640"/>
          </a:xfrm>
          <a:prstGeom prst="rect">
            <a:avLst/>
          </a:prstGeom>
          <a:noFill/>
        </p:spPr>
        <p:txBody>
          <a:bodyPr wrap="square" anchor="t" lIns="25400" rIns="25400" tIns="25400" bIns="25400">
            <a:spAutoFit/>
          </a:bodyPr>
          <a:lstStyle/>
          <a:p>
            <a:pPr algn="l">
              <a:lnSpc>
                <a:spcPct val="100000"/>
              </a:lnSpc>
              <a:spcAft>
                <a:spcPts val="400"/>
              </a:spcAft>
            </a:pPr>
            <a:r>
              <a:rPr sz="1350" b="1">
                <a:solidFill>
                  <a:srgbClr val="4A1F3D"/>
                </a:solidFill>
                <a:latin typeface="Arial"/>
              </a:rPr>
              <a:t>Proactive, not a passive inbox</a:t>
            </a:r>
          </a:p>
        </p:txBody>
      </p:sp>
      <p:sp>
        <p:nvSpPr>
          <p:cNvPr id="15" name="TextBox 14"/>
          <p:cNvSpPr txBox="1"/>
          <p:nvPr/>
        </p:nvSpPr>
        <p:spPr>
          <a:xfrm>
            <a:off x="4462272" y="3355848"/>
            <a:ext cx="3236976" cy="731520"/>
          </a:xfrm>
          <a:prstGeom prst="rect">
            <a:avLst/>
          </a:prstGeom>
          <a:noFill/>
        </p:spPr>
        <p:txBody>
          <a:bodyPr wrap="square" anchor="t" lIns="25400" rIns="25400" tIns="25400" bIns="25400">
            <a:spAutoFit/>
          </a:bodyPr>
          <a:lstStyle/>
          <a:p>
            <a:pPr algn="l">
              <a:lnSpc>
                <a:spcPct val="102000"/>
              </a:lnSpc>
              <a:spcAft>
                <a:spcPts val="400"/>
              </a:spcAft>
            </a:pPr>
            <a:r>
              <a:rPr sz="1200" b="0">
                <a:solidFill>
                  <a:srgbClr val="2B252A"/>
                </a:solidFill>
                <a:latin typeface="Arial"/>
              </a:rPr>
              <a:t>The quitters are exactly the ones who never message.</a:t>
            </a:r>
          </a:p>
        </p:txBody>
      </p:sp>
      <p:sp>
        <p:nvSpPr>
          <p:cNvPr id="16" name="Rounded Rectangle 15"/>
          <p:cNvSpPr/>
          <p:nvPr/>
        </p:nvSpPr>
        <p:spPr>
          <a:xfrm>
            <a:off x="8010144" y="2697480"/>
            <a:ext cx="3602736" cy="141732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2807208"/>
            <a:ext cx="3236976" cy="548640"/>
          </a:xfrm>
          <a:prstGeom prst="rect">
            <a:avLst/>
          </a:prstGeom>
          <a:noFill/>
        </p:spPr>
        <p:txBody>
          <a:bodyPr wrap="square" anchor="t" lIns="25400" rIns="25400" tIns="25400" bIns="25400">
            <a:spAutoFit/>
          </a:bodyPr>
          <a:lstStyle/>
          <a:p>
            <a:pPr algn="l">
              <a:lnSpc>
                <a:spcPct val="100000"/>
              </a:lnSpc>
              <a:spcAft>
                <a:spcPts val="400"/>
              </a:spcAft>
            </a:pPr>
            <a:r>
              <a:rPr sz="1350" b="1">
                <a:solidFill>
                  <a:srgbClr val="4A1F3D"/>
                </a:solidFill>
                <a:latin typeface="Arial"/>
              </a:rPr>
              <a:t>Covers the weeks 2–5 blind window</a:t>
            </a:r>
          </a:p>
        </p:txBody>
      </p:sp>
      <p:sp>
        <p:nvSpPr>
          <p:cNvPr id="18" name="TextBox 17"/>
          <p:cNvSpPr txBox="1"/>
          <p:nvPr/>
        </p:nvSpPr>
        <p:spPr>
          <a:xfrm>
            <a:off x="8193024" y="3355848"/>
            <a:ext cx="3236976" cy="731520"/>
          </a:xfrm>
          <a:prstGeom prst="rect">
            <a:avLst/>
          </a:prstGeom>
          <a:noFill/>
        </p:spPr>
        <p:txBody>
          <a:bodyPr wrap="square" anchor="t" lIns="25400" rIns="25400" tIns="25400" bIns="25400">
            <a:spAutoFit/>
          </a:bodyPr>
          <a:lstStyle/>
          <a:p>
            <a:pPr algn="l">
              <a:lnSpc>
                <a:spcPct val="102000"/>
              </a:lnSpc>
              <a:spcAft>
                <a:spcPts val="400"/>
              </a:spcAft>
            </a:pPr>
            <a:r>
              <a:rPr sz="1200" b="0">
                <a:solidFill>
                  <a:srgbClr val="2B252A"/>
                </a:solidFill>
                <a:latin typeface="Arial"/>
              </a:rPr>
              <a:t>We reach her before she quits — visits come too late.</a:t>
            </a:r>
          </a:p>
        </p:txBody>
      </p:sp>
      <p:sp>
        <p:nvSpPr>
          <p:cNvPr id="19" name="Rounded Rectangle 18"/>
          <p:cNvSpPr/>
          <p:nvPr/>
        </p:nvSpPr>
        <p:spPr>
          <a:xfrm>
            <a:off x="548640" y="4261104"/>
            <a:ext cx="3602736" cy="141732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370832"/>
            <a:ext cx="3236976" cy="548640"/>
          </a:xfrm>
          <a:prstGeom prst="rect">
            <a:avLst/>
          </a:prstGeom>
          <a:noFill/>
        </p:spPr>
        <p:txBody>
          <a:bodyPr wrap="square" anchor="t" lIns="25400" rIns="25400" tIns="25400" bIns="25400">
            <a:spAutoFit/>
          </a:bodyPr>
          <a:lstStyle/>
          <a:p>
            <a:pPr algn="l">
              <a:lnSpc>
                <a:spcPct val="100000"/>
              </a:lnSpc>
              <a:spcAft>
                <a:spcPts val="400"/>
              </a:spcAft>
            </a:pPr>
            <a:r>
              <a:rPr sz="1350" b="1">
                <a:solidFill>
                  <a:srgbClr val="4A1F3D"/>
                </a:solidFill>
                <a:latin typeface="Arial"/>
              </a:rPr>
              <a:t>A cross-patient interpretation engine</a:t>
            </a:r>
          </a:p>
        </p:txBody>
      </p:sp>
      <p:sp>
        <p:nvSpPr>
          <p:cNvPr id="21" name="TextBox 20"/>
          <p:cNvSpPr txBox="1"/>
          <p:nvPr/>
        </p:nvSpPr>
        <p:spPr>
          <a:xfrm>
            <a:off x="731520" y="4919472"/>
            <a:ext cx="3236976" cy="731520"/>
          </a:xfrm>
          <a:prstGeom prst="rect">
            <a:avLst/>
          </a:prstGeom>
          <a:noFill/>
        </p:spPr>
        <p:txBody>
          <a:bodyPr wrap="square" anchor="t" lIns="25400" rIns="25400" tIns="25400" bIns="25400">
            <a:spAutoFit/>
          </a:bodyPr>
          <a:lstStyle/>
          <a:p>
            <a:pPr algn="l">
              <a:lnSpc>
                <a:spcPct val="102000"/>
              </a:lnSpc>
              <a:spcAft>
                <a:spcPts val="400"/>
              </a:spcAft>
            </a:pPr>
            <a:r>
              <a:rPr sz="1200" b="0">
                <a:solidFill>
                  <a:srgbClr val="2B252A"/>
                </a:solidFill>
                <a:latin typeface="Arial"/>
              </a:rPr>
              <a:t>Day-level dose-aligned data no single clinic has. Copyable UI; un-copyable dataset.</a:t>
            </a:r>
          </a:p>
        </p:txBody>
      </p:sp>
      <p:sp>
        <p:nvSpPr>
          <p:cNvPr id="22" name="Rounded Rectangle 21"/>
          <p:cNvSpPr/>
          <p:nvPr/>
        </p:nvSpPr>
        <p:spPr>
          <a:xfrm>
            <a:off x="4279392" y="4261104"/>
            <a:ext cx="3602736" cy="141732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62272" y="4370832"/>
            <a:ext cx="3236976" cy="548640"/>
          </a:xfrm>
          <a:prstGeom prst="rect">
            <a:avLst/>
          </a:prstGeom>
          <a:noFill/>
        </p:spPr>
        <p:txBody>
          <a:bodyPr wrap="square" anchor="t" lIns="25400" rIns="25400" tIns="25400" bIns="25400">
            <a:spAutoFit/>
          </a:bodyPr>
          <a:lstStyle/>
          <a:p>
            <a:pPr algn="l">
              <a:lnSpc>
                <a:spcPct val="100000"/>
              </a:lnSpc>
              <a:spcAft>
                <a:spcPts val="400"/>
              </a:spcAft>
            </a:pPr>
            <a:r>
              <a:rPr sz="1350" b="1">
                <a:solidFill>
                  <a:srgbClr val="4A1F3D"/>
                </a:solidFill>
                <a:latin typeface="Arial"/>
              </a:rPr>
              <a:t>Monitoring made economic</a:t>
            </a:r>
          </a:p>
        </p:txBody>
      </p:sp>
      <p:sp>
        <p:nvSpPr>
          <p:cNvPr id="24" name="TextBox 23"/>
          <p:cNvSpPr txBox="1"/>
          <p:nvPr/>
        </p:nvSpPr>
        <p:spPr>
          <a:xfrm>
            <a:off x="4462272" y="4919472"/>
            <a:ext cx="3236976" cy="731520"/>
          </a:xfrm>
          <a:prstGeom prst="rect">
            <a:avLst/>
          </a:prstGeom>
          <a:noFill/>
        </p:spPr>
        <p:txBody>
          <a:bodyPr wrap="square" anchor="t" lIns="25400" rIns="25400" tIns="25400" bIns="25400">
            <a:spAutoFit/>
          </a:bodyPr>
          <a:lstStyle/>
          <a:p>
            <a:pPr algn="l">
              <a:lnSpc>
                <a:spcPct val="102000"/>
              </a:lnSpc>
              <a:spcAft>
                <a:spcPts val="400"/>
              </a:spcAft>
            </a:pPr>
            <a:r>
              <a:rPr sz="1200" b="0">
                <a:solidFill>
                  <a:srgbClr val="2B252A"/>
                </a:solidFill>
                <a:latin typeface="Arial"/>
              </a:rPr>
              <a:t>Structured + billable → scales; a reactive inbox never does.</a:t>
            </a:r>
          </a:p>
        </p:txBody>
      </p:sp>
      <p:sp>
        <p:nvSpPr>
          <p:cNvPr id="25" name="Rounded Rectangle 24"/>
          <p:cNvSpPr/>
          <p:nvPr/>
        </p:nvSpPr>
        <p:spPr>
          <a:xfrm>
            <a:off x="8010144" y="4261104"/>
            <a:ext cx="3602736" cy="141732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93024" y="4370832"/>
            <a:ext cx="3236976" cy="548640"/>
          </a:xfrm>
          <a:prstGeom prst="rect">
            <a:avLst/>
          </a:prstGeom>
          <a:noFill/>
        </p:spPr>
        <p:txBody>
          <a:bodyPr wrap="square" anchor="t" lIns="25400" rIns="25400" tIns="25400" bIns="25400">
            <a:spAutoFit/>
          </a:bodyPr>
          <a:lstStyle/>
          <a:p>
            <a:pPr algn="l">
              <a:lnSpc>
                <a:spcPct val="100000"/>
              </a:lnSpc>
              <a:spcAft>
                <a:spcPts val="400"/>
              </a:spcAft>
            </a:pPr>
            <a:r>
              <a:rPr sz="1350" b="1">
                <a:solidFill>
                  <a:srgbClr val="4A1F3D"/>
                </a:solidFill>
                <a:latin typeface="Arial"/>
              </a:rPr>
              <a:t>Neutral &amp; portable</a:t>
            </a:r>
          </a:p>
        </p:txBody>
      </p:sp>
      <p:sp>
        <p:nvSpPr>
          <p:cNvPr id="27" name="TextBox 26"/>
          <p:cNvSpPr txBox="1"/>
          <p:nvPr/>
        </p:nvSpPr>
        <p:spPr>
          <a:xfrm>
            <a:off x="8193024" y="4919472"/>
            <a:ext cx="3236976" cy="731520"/>
          </a:xfrm>
          <a:prstGeom prst="rect">
            <a:avLst/>
          </a:prstGeom>
          <a:noFill/>
        </p:spPr>
        <p:txBody>
          <a:bodyPr wrap="square" anchor="t" lIns="25400" rIns="25400" tIns="25400" bIns="25400">
            <a:spAutoFit/>
          </a:bodyPr>
          <a:lstStyle/>
          <a:p>
            <a:pPr algn="l">
              <a:lnSpc>
                <a:spcPct val="102000"/>
              </a:lnSpc>
              <a:spcAft>
                <a:spcPts val="400"/>
              </a:spcAft>
            </a:pPr>
            <a:r>
              <a:rPr sz="1200" b="0">
                <a:solidFill>
                  <a:srgbClr val="2B252A"/>
                </a:solidFill>
                <a:latin typeface="Arial"/>
              </a:rPr>
              <a:t>Records follow the patient across GP / clinic / pharmacist.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TEAM</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Founder-led, advisor-backed</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09</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ounded Rectangle 7"/>
          <p:cNvSpPr/>
          <p:nvPr/>
        </p:nvSpPr>
        <p:spPr>
          <a:xfrm>
            <a:off x="548640" y="1463040"/>
            <a:ext cx="3602736" cy="402336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47088" y="1783080"/>
            <a:ext cx="1005840" cy="1005840"/>
          </a:xfrm>
          <a:prstGeom prst="ellipse">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71800"/>
            <a:ext cx="3602736" cy="457200"/>
          </a:xfrm>
          <a:prstGeom prst="rect">
            <a:avLst/>
          </a:prstGeom>
          <a:noFill/>
        </p:spPr>
        <p:txBody>
          <a:bodyPr wrap="square" anchor="t" lIns="25400" rIns="25400" tIns="25400" bIns="25400">
            <a:spAutoFit/>
          </a:bodyPr>
          <a:lstStyle/>
          <a:p>
            <a:pPr algn="ctr">
              <a:lnSpc>
                <a:spcPct val="100000"/>
              </a:lnSpc>
              <a:spcAft>
                <a:spcPts val="400"/>
              </a:spcAft>
            </a:pPr>
            <a:r>
              <a:rPr sz="1600" b="1">
                <a:solidFill>
                  <a:srgbClr val="4A1F3D"/>
                </a:solidFill>
                <a:latin typeface="Arial"/>
              </a:rPr>
              <a:t>[Founder name]</a:t>
            </a:r>
          </a:p>
        </p:txBody>
      </p:sp>
      <p:sp>
        <p:nvSpPr>
          <p:cNvPr id="11" name="TextBox 10"/>
          <p:cNvSpPr txBox="1"/>
          <p:nvPr/>
        </p:nvSpPr>
        <p:spPr>
          <a:xfrm>
            <a:off x="548640" y="3429000"/>
            <a:ext cx="3602736" cy="411480"/>
          </a:xfrm>
          <a:prstGeom prst="rect">
            <a:avLst/>
          </a:prstGeom>
          <a:noFill/>
        </p:spPr>
        <p:txBody>
          <a:bodyPr wrap="square" anchor="t" lIns="25400" rIns="25400" tIns="25400" bIns="25400">
            <a:spAutoFit/>
          </a:bodyPr>
          <a:lstStyle/>
          <a:p>
            <a:pPr algn="ctr">
              <a:lnSpc>
                <a:spcPct val="100000"/>
              </a:lnSpc>
              <a:spcAft>
                <a:spcPts val="400"/>
              </a:spcAft>
            </a:pPr>
            <a:r>
              <a:rPr sz="1300" b="1">
                <a:solidFill>
                  <a:srgbClr val="C96F8A"/>
                </a:solidFill>
                <a:latin typeface="Arial"/>
              </a:rPr>
              <a:t>Founder &amp; CEO</a:t>
            </a:r>
          </a:p>
        </p:txBody>
      </p:sp>
      <p:sp>
        <p:nvSpPr>
          <p:cNvPr id="12" name="TextBox 11"/>
          <p:cNvSpPr txBox="1"/>
          <p:nvPr/>
        </p:nvSpPr>
        <p:spPr>
          <a:xfrm>
            <a:off x="777240" y="3977639"/>
            <a:ext cx="3145536" cy="1371600"/>
          </a:xfrm>
          <a:prstGeom prst="rect">
            <a:avLst/>
          </a:prstGeom>
          <a:noFill/>
        </p:spPr>
        <p:txBody>
          <a:bodyPr wrap="square" anchor="t" lIns="25400" rIns="25400" tIns="25400" bIns="25400">
            <a:spAutoFit/>
          </a:bodyPr>
          <a:lstStyle/>
          <a:p>
            <a:pPr algn="ctr">
              <a:lnSpc>
                <a:spcPct val="108000"/>
              </a:lnSpc>
              <a:spcAft>
                <a:spcPts val="400"/>
              </a:spcAft>
            </a:pPr>
            <a:r>
              <a:rPr sz="1250" b="0">
                <a:solidFill>
                  <a:srgbClr val="2B252A"/>
                </a:solidFill>
                <a:latin typeface="Arial"/>
              </a:rPr>
              <a:t>Based in Canada. Running the discovery: pharmacist, physician &amp; pharma-industry interviews. [1–2 lines of relevant background].</a:t>
            </a:r>
          </a:p>
        </p:txBody>
      </p:sp>
      <p:sp>
        <p:nvSpPr>
          <p:cNvPr id="13" name="Rounded Rectangle 12"/>
          <p:cNvSpPr/>
          <p:nvPr/>
        </p:nvSpPr>
        <p:spPr>
          <a:xfrm>
            <a:off x="4279392" y="1463040"/>
            <a:ext cx="3602736" cy="402336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577840" y="1783080"/>
            <a:ext cx="1005840" cy="1005840"/>
          </a:xfrm>
          <a:prstGeom prst="ellipse">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2971800"/>
            <a:ext cx="3602736" cy="457200"/>
          </a:xfrm>
          <a:prstGeom prst="rect">
            <a:avLst/>
          </a:prstGeom>
          <a:noFill/>
        </p:spPr>
        <p:txBody>
          <a:bodyPr wrap="square" anchor="t" lIns="25400" rIns="25400" tIns="25400" bIns="25400">
            <a:spAutoFit/>
          </a:bodyPr>
          <a:lstStyle/>
          <a:p>
            <a:pPr algn="ctr">
              <a:lnSpc>
                <a:spcPct val="100000"/>
              </a:lnSpc>
              <a:spcAft>
                <a:spcPts val="400"/>
              </a:spcAft>
            </a:pPr>
            <a:r>
              <a:rPr sz="1600" b="1">
                <a:solidFill>
                  <a:srgbClr val="4A1F3D"/>
                </a:solidFill>
                <a:latin typeface="Arial"/>
              </a:rPr>
              <a:t>[Clinical advisor]</a:t>
            </a:r>
          </a:p>
        </p:txBody>
      </p:sp>
      <p:sp>
        <p:nvSpPr>
          <p:cNvPr id="16" name="TextBox 15"/>
          <p:cNvSpPr txBox="1"/>
          <p:nvPr/>
        </p:nvSpPr>
        <p:spPr>
          <a:xfrm>
            <a:off x="4279392" y="3429000"/>
            <a:ext cx="3602736" cy="411480"/>
          </a:xfrm>
          <a:prstGeom prst="rect">
            <a:avLst/>
          </a:prstGeom>
          <a:noFill/>
        </p:spPr>
        <p:txBody>
          <a:bodyPr wrap="square" anchor="t" lIns="25400" rIns="25400" tIns="25400" bIns="25400">
            <a:spAutoFit/>
          </a:bodyPr>
          <a:lstStyle/>
          <a:p>
            <a:pPr algn="ctr">
              <a:lnSpc>
                <a:spcPct val="100000"/>
              </a:lnSpc>
              <a:spcAft>
                <a:spcPts val="400"/>
              </a:spcAft>
            </a:pPr>
            <a:r>
              <a:rPr sz="1300" b="1">
                <a:solidFill>
                  <a:srgbClr val="C96F8A"/>
                </a:solidFill>
                <a:latin typeface="Arial"/>
              </a:rPr>
              <a:t>Menopause / OB-GYN advisor</a:t>
            </a:r>
          </a:p>
        </p:txBody>
      </p:sp>
      <p:sp>
        <p:nvSpPr>
          <p:cNvPr id="17" name="TextBox 16"/>
          <p:cNvSpPr txBox="1"/>
          <p:nvPr/>
        </p:nvSpPr>
        <p:spPr>
          <a:xfrm>
            <a:off x="4507992" y="3977639"/>
            <a:ext cx="3145536" cy="1371600"/>
          </a:xfrm>
          <a:prstGeom prst="rect">
            <a:avLst/>
          </a:prstGeom>
          <a:noFill/>
        </p:spPr>
        <p:txBody>
          <a:bodyPr wrap="square" anchor="t" lIns="25400" rIns="25400" tIns="25400" bIns="25400">
            <a:spAutoFit/>
          </a:bodyPr>
          <a:lstStyle/>
          <a:p>
            <a:pPr algn="ctr">
              <a:lnSpc>
                <a:spcPct val="108000"/>
              </a:lnSpc>
              <a:spcAft>
                <a:spcPts val="400"/>
              </a:spcAft>
            </a:pPr>
            <a:r>
              <a:rPr sz="1250" b="0">
                <a:solidFill>
                  <a:srgbClr val="2B252A"/>
                </a:solidFill>
                <a:latin typeface="Arial"/>
              </a:rPr>
              <a:t>NAMS-certified clinician to co-design the PRO instrument and red-flag protocol. [To confirm].</a:t>
            </a:r>
          </a:p>
        </p:txBody>
      </p:sp>
      <p:sp>
        <p:nvSpPr>
          <p:cNvPr id="18" name="Rounded Rectangle 17"/>
          <p:cNvSpPr/>
          <p:nvPr/>
        </p:nvSpPr>
        <p:spPr>
          <a:xfrm>
            <a:off x="8010144" y="1463040"/>
            <a:ext cx="3602736" cy="402336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08592" y="1783080"/>
            <a:ext cx="1005840" cy="1005840"/>
          </a:xfrm>
          <a:prstGeom prst="ellipse">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10144" y="2971800"/>
            <a:ext cx="3602736" cy="457200"/>
          </a:xfrm>
          <a:prstGeom prst="rect">
            <a:avLst/>
          </a:prstGeom>
          <a:noFill/>
        </p:spPr>
        <p:txBody>
          <a:bodyPr wrap="square" anchor="t" lIns="25400" rIns="25400" tIns="25400" bIns="25400">
            <a:spAutoFit/>
          </a:bodyPr>
          <a:lstStyle/>
          <a:p>
            <a:pPr algn="ctr">
              <a:lnSpc>
                <a:spcPct val="100000"/>
              </a:lnSpc>
              <a:spcAft>
                <a:spcPts val="400"/>
              </a:spcAft>
            </a:pPr>
            <a:r>
              <a:rPr sz="1600" b="1">
                <a:solidFill>
                  <a:srgbClr val="4A1F3D"/>
                </a:solidFill>
                <a:latin typeface="Arial"/>
              </a:rPr>
              <a:t>[Technical lead]</a:t>
            </a:r>
          </a:p>
        </p:txBody>
      </p:sp>
      <p:sp>
        <p:nvSpPr>
          <p:cNvPr id="21" name="TextBox 20"/>
          <p:cNvSpPr txBox="1"/>
          <p:nvPr/>
        </p:nvSpPr>
        <p:spPr>
          <a:xfrm>
            <a:off x="8010144" y="3429000"/>
            <a:ext cx="3602736" cy="411480"/>
          </a:xfrm>
          <a:prstGeom prst="rect">
            <a:avLst/>
          </a:prstGeom>
          <a:noFill/>
        </p:spPr>
        <p:txBody>
          <a:bodyPr wrap="square" anchor="t" lIns="25400" rIns="25400" tIns="25400" bIns="25400">
            <a:spAutoFit/>
          </a:bodyPr>
          <a:lstStyle/>
          <a:p>
            <a:pPr algn="ctr">
              <a:lnSpc>
                <a:spcPct val="100000"/>
              </a:lnSpc>
              <a:spcAft>
                <a:spcPts val="400"/>
              </a:spcAft>
            </a:pPr>
            <a:r>
              <a:rPr sz="1300" b="1">
                <a:solidFill>
                  <a:srgbClr val="C96F8A"/>
                </a:solidFill>
                <a:latin typeface="Arial"/>
              </a:rPr>
              <a:t>Product / Engineering</a:t>
            </a:r>
          </a:p>
        </p:txBody>
      </p:sp>
      <p:sp>
        <p:nvSpPr>
          <p:cNvPr id="22" name="TextBox 21"/>
          <p:cNvSpPr txBox="1"/>
          <p:nvPr/>
        </p:nvSpPr>
        <p:spPr>
          <a:xfrm>
            <a:off x="8238744" y="3977639"/>
            <a:ext cx="3145536" cy="1371600"/>
          </a:xfrm>
          <a:prstGeom prst="rect">
            <a:avLst/>
          </a:prstGeom>
          <a:noFill/>
        </p:spPr>
        <p:txBody>
          <a:bodyPr wrap="square" anchor="t" lIns="25400" rIns="25400" tIns="25400" bIns="25400">
            <a:spAutoFit/>
          </a:bodyPr>
          <a:lstStyle/>
          <a:p>
            <a:pPr algn="ctr">
              <a:lnSpc>
                <a:spcPct val="108000"/>
              </a:lnSpc>
              <a:spcAft>
                <a:spcPts val="400"/>
              </a:spcAft>
            </a:pPr>
            <a:r>
              <a:rPr sz="1250" b="0">
                <a:solidFill>
                  <a:srgbClr val="2B252A"/>
                </a:solidFill>
                <a:latin typeface="Arial"/>
              </a:rPr>
              <a:t>Owns the SMS-first check-in, one-page clinician summary and data pipeline. [To recruit].</a:t>
            </a:r>
          </a:p>
        </p:txBody>
      </p:sp>
      <p:sp>
        <p:nvSpPr>
          <p:cNvPr id="23" name="TextBox 22"/>
          <p:cNvSpPr txBox="1"/>
          <p:nvPr/>
        </p:nvSpPr>
        <p:spPr>
          <a:xfrm>
            <a:off x="548640" y="5806440"/>
            <a:ext cx="10972800" cy="457200"/>
          </a:xfrm>
          <a:prstGeom prst="rect">
            <a:avLst/>
          </a:prstGeom>
          <a:noFill/>
        </p:spPr>
        <p:txBody>
          <a:bodyPr wrap="square" anchor="t" lIns="25400" rIns="25400" tIns="25400" bIns="25400">
            <a:spAutoFit/>
          </a:bodyPr>
          <a:lstStyle/>
          <a:p>
            <a:pPr algn="l">
              <a:lnSpc>
                <a:spcPct val="100000"/>
              </a:lnSpc>
              <a:spcAft>
                <a:spcPts val="400"/>
              </a:spcAft>
            </a:pPr>
            <a:r>
              <a:rPr sz="1300" b="1">
                <a:solidFill>
                  <a:srgbClr val="4A1F3D"/>
                </a:solidFill>
                <a:latin typeface="Arial"/>
              </a:rPr>
              <a:t>Advisors sought: </a:t>
            </a:r>
            <a:r>
              <a:rPr sz="1300" b="0">
                <a:solidFill>
                  <a:srgbClr val="6B6368"/>
                </a:solidFill>
                <a:latin typeface="Arial"/>
              </a:rPr>
              <a:t>a health-economics / reimbursement advisor (RTM + Canadian MedsCheck) and a pharma medical-affairs contact.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BUSINESS MODEL · LEAN CANVAS</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How the pieces fit</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10</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ectangle 7"/>
          <p:cNvSpPr/>
          <p:nvPr/>
        </p:nvSpPr>
        <p:spPr>
          <a:xfrm>
            <a:off x="548640" y="1325880"/>
            <a:ext cx="2212848" cy="3749040"/>
          </a:xfrm>
          <a:prstGeom prst="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325880"/>
            <a:ext cx="2212848" cy="292608"/>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2075688" cy="292608"/>
          </a:xfrm>
          <a:prstGeom prst="rect">
            <a:avLst/>
          </a:prstGeom>
          <a:noFill/>
        </p:spPr>
        <p:txBody>
          <a:bodyPr wrap="square" anchor="ctr" lIns="25400" rIns="25400" tIns="25400" bIns="25400">
            <a:spAutoFit/>
          </a:bodyPr>
          <a:lstStyle/>
          <a:p>
            <a:pPr algn="l">
              <a:lnSpc>
                <a:spcPct val="100000"/>
              </a:lnSpc>
              <a:spcAft>
                <a:spcPts val="400"/>
              </a:spcAft>
            </a:pPr>
            <a:r>
              <a:rPr sz="1050" b="1">
                <a:solidFill>
                  <a:srgbClr val="FFFFFF"/>
                </a:solidFill>
                <a:latin typeface="Arial"/>
              </a:rPr>
              <a:t>PROBLEM</a:t>
            </a:r>
          </a:p>
        </p:txBody>
      </p:sp>
      <p:sp>
        <p:nvSpPr>
          <p:cNvPr id="11" name="TextBox 10"/>
          <p:cNvSpPr txBox="1"/>
          <p:nvPr/>
        </p:nvSpPr>
        <p:spPr>
          <a:xfrm>
            <a:off x="640080" y="1673352"/>
            <a:ext cx="2029968" cy="3364992"/>
          </a:xfrm>
          <a:prstGeom prst="rect">
            <a:avLst/>
          </a:prstGeom>
          <a:noFill/>
        </p:spPr>
        <p:txBody>
          <a:bodyPr wrap="square">
            <a:spAutoFit/>
          </a:bodyPr>
          <a:lstStyle/>
          <a:p>
            <a:pPr>
              <a:lnSpc>
                <a:spcPct val="98000"/>
              </a:lnSpc>
              <a:spcAft>
                <a:spcPts val="200"/>
              </a:spcAft>
            </a:pPr>
            <a:r>
              <a:rPr sz="950">
                <a:solidFill>
                  <a:srgbClr val="2B252A"/>
                </a:solidFill>
                <a:latin typeface="Arial"/>
              </a:rPr>
              <a:t>– 3–6 mo titration black box</a:t>
            </a:r>
          </a:p>
          <a:p>
            <a:pPr>
              <a:lnSpc>
                <a:spcPct val="98000"/>
              </a:lnSpc>
              <a:spcAft>
                <a:spcPts val="200"/>
              </a:spcAft>
            </a:pPr>
            <a:r>
              <a:rPr sz="950">
                <a:solidFill>
                  <a:srgbClr val="2B252A"/>
                </a:solidFill>
                <a:latin typeface="Arial"/>
              </a:rPr>
              <a:t>– ~50% quit yr 1 (side-effects)</a:t>
            </a:r>
          </a:p>
          <a:p>
            <a:pPr>
              <a:lnSpc>
                <a:spcPct val="98000"/>
              </a:lnSpc>
              <a:spcAft>
                <a:spcPts val="200"/>
              </a:spcAft>
            </a:pPr>
            <a:r>
              <a:rPr sz="950">
                <a:solidFill>
                  <a:srgbClr val="2B252A"/>
                </a:solidFill>
                <a:latin typeface="Arial"/>
              </a:rPr>
              <a:t>– Clinicians dose on faulty recall</a:t>
            </a:r>
          </a:p>
          <a:p>
            <a:pPr>
              <a:lnSpc>
                <a:spcPct val="98000"/>
              </a:lnSpc>
              <a:spcAft>
                <a:spcPts val="200"/>
              </a:spcAft>
            </a:pPr>
            <a:r>
              <a:rPr sz="950">
                <a:solidFill>
                  <a:srgbClr val="2B252A"/>
                </a:solidFill>
                <a:latin typeface="Arial"/>
              </a:rPr>
              <a:t>– No dose↔response record exists</a:t>
            </a:r>
          </a:p>
        </p:txBody>
      </p:sp>
      <p:sp>
        <p:nvSpPr>
          <p:cNvPr id="12" name="Rectangle 11"/>
          <p:cNvSpPr/>
          <p:nvPr/>
        </p:nvSpPr>
        <p:spPr>
          <a:xfrm>
            <a:off x="2761488" y="1325880"/>
            <a:ext cx="2212848" cy="2331720"/>
          </a:xfrm>
          <a:prstGeom prst="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61488" y="1325880"/>
            <a:ext cx="2212848" cy="292608"/>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52928" y="1325880"/>
            <a:ext cx="2075688" cy="292608"/>
          </a:xfrm>
          <a:prstGeom prst="rect">
            <a:avLst/>
          </a:prstGeom>
          <a:noFill/>
        </p:spPr>
        <p:txBody>
          <a:bodyPr wrap="square" anchor="ctr" lIns="25400" rIns="25400" tIns="25400" bIns="25400">
            <a:spAutoFit/>
          </a:bodyPr>
          <a:lstStyle/>
          <a:p>
            <a:pPr algn="l">
              <a:lnSpc>
                <a:spcPct val="100000"/>
              </a:lnSpc>
              <a:spcAft>
                <a:spcPts val="400"/>
              </a:spcAft>
            </a:pPr>
            <a:r>
              <a:rPr sz="1050" b="1">
                <a:solidFill>
                  <a:srgbClr val="FFFFFF"/>
                </a:solidFill>
                <a:latin typeface="Arial"/>
              </a:rPr>
              <a:t>SOLUTION</a:t>
            </a:r>
          </a:p>
        </p:txBody>
      </p:sp>
      <p:sp>
        <p:nvSpPr>
          <p:cNvPr id="15" name="TextBox 14"/>
          <p:cNvSpPr txBox="1"/>
          <p:nvPr/>
        </p:nvSpPr>
        <p:spPr>
          <a:xfrm>
            <a:off x="2852928" y="1673352"/>
            <a:ext cx="2029968" cy="1947672"/>
          </a:xfrm>
          <a:prstGeom prst="rect">
            <a:avLst/>
          </a:prstGeom>
          <a:noFill/>
        </p:spPr>
        <p:txBody>
          <a:bodyPr wrap="square">
            <a:spAutoFit/>
          </a:bodyPr>
          <a:lstStyle/>
          <a:p>
            <a:pPr>
              <a:lnSpc>
                <a:spcPct val="98000"/>
              </a:lnSpc>
              <a:spcAft>
                <a:spcPts val="200"/>
              </a:spcAft>
            </a:pPr>
            <a:r>
              <a:rPr sz="950">
                <a:solidFill>
                  <a:srgbClr val="2B252A"/>
                </a:solidFill>
                <a:latin typeface="Arial"/>
              </a:rPr>
              <a:t>– 30-sec daily check-in</a:t>
            </a:r>
          </a:p>
          <a:p>
            <a:pPr>
              <a:lnSpc>
                <a:spcPct val="98000"/>
              </a:lnSpc>
              <a:spcAft>
                <a:spcPts val="200"/>
              </a:spcAft>
            </a:pPr>
            <a:r>
              <a:rPr sz="950">
                <a:solidFill>
                  <a:srgbClr val="2B252A"/>
                </a:solidFill>
                <a:latin typeface="Arial"/>
              </a:rPr>
              <a:t>– Expected-band feedback</a:t>
            </a:r>
          </a:p>
          <a:p>
            <a:pPr>
              <a:lnSpc>
                <a:spcPct val="98000"/>
              </a:lnSpc>
              <a:spcAft>
                <a:spcPts val="200"/>
              </a:spcAft>
            </a:pPr>
            <a:r>
              <a:rPr sz="950">
                <a:solidFill>
                  <a:srgbClr val="2B252A"/>
                </a:solidFill>
                <a:latin typeface="Arial"/>
              </a:rPr>
              <a:t>– 1-page clinician summary</a:t>
            </a:r>
          </a:p>
          <a:p>
            <a:pPr>
              <a:lnSpc>
                <a:spcPct val="98000"/>
              </a:lnSpc>
              <a:spcAft>
                <a:spcPts val="200"/>
              </a:spcAft>
            </a:pPr>
            <a:r>
              <a:rPr sz="950">
                <a:solidFill>
                  <a:srgbClr val="2B252A"/>
                </a:solidFill>
                <a:latin typeface="Arial"/>
              </a:rPr>
              <a:t>– Red-flag triage</a:t>
            </a:r>
          </a:p>
        </p:txBody>
      </p:sp>
      <p:sp>
        <p:nvSpPr>
          <p:cNvPr id="16" name="Rectangle 15"/>
          <p:cNvSpPr/>
          <p:nvPr/>
        </p:nvSpPr>
        <p:spPr>
          <a:xfrm>
            <a:off x="4974336" y="1325880"/>
            <a:ext cx="2212848" cy="3749040"/>
          </a:xfrm>
          <a:prstGeom prst="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74336" y="1325880"/>
            <a:ext cx="2212848" cy="292608"/>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65776" y="1325880"/>
            <a:ext cx="2075688" cy="292608"/>
          </a:xfrm>
          <a:prstGeom prst="rect">
            <a:avLst/>
          </a:prstGeom>
          <a:noFill/>
        </p:spPr>
        <p:txBody>
          <a:bodyPr wrap="square" anchor="ctr" lIns="25400" rIns="25400" tIns="25400" bIns="25400">
            <a:spAutoFit/>
          </a:bodyPr>
          <a:lstStyle/>
          <a:p>
            <a:pPr algn="l">
              <a:lnSpc>
                <a:spcPct val="100000"/>
              </a:lnSpc>
              <a:spcAft>
                <a:spcPts val="400"/>
              </a:spcAft>
            </a:pPr>
            <a:r>
              <a:rPr sz="1050" b="1">
                <a:solidFill>
                  <a:srgbClr val="FFFFFF"/>
                </a:solidFill>
                <a:latin typeface="Arial"/>
              </a:rPr>
              <a:t>UVP</a:t>
            </a:r>
          </a:p>
        </p:txBody>
      </p:sp>
      <p:sp>
        <p:nvSpPr>
          <p:cNvPr id="19" name="TextBox 18"/>
          <p:cNvSpPr txBox="1"/>
          <p:nvPr/>
        </p:nvSpPr>
        <p:spPr>
          <a:xfrm>
            <a:off x="5065776" y="1673352"/>
            <a:ext cx="2029968" cy="3364992"/>
          </a:xfrm>
          <a:prstGeom prst="rect">
            <a:avLst/>
          </a:prstGeom>
          <a:noFill/>
        </p:spPr>
        <p:txBody>
          <a:bodyPr wrap="square">
            <a:spAutoFit/>
          </a:bodyPr>
          <a:lstStyle/>
          <a:p>
            <a:pPr>
              <a:lnSpc>
                <a:spcPct val="98000"/>
              </a:lnSpc>
              <a:spcAft>
                <a:spcPts val="200"/>
              </a:spcAft>
            </a:pPr>
            <a:r>
              <a:rPr sz="950">
                <a:solidFill>
                  <a:srgbClr val="2B252A"/>
                </a:solidFill>
                <a:latin typeface="Arial"/>
              </a:rPr>
              <a:t>– “Know if you’re on track — before you quit”</a:t>
            </a:r>
          </a:p>
          <a:p>
            <a:pPr>
              <a:lnSpc>
                <a:spcPct val="98000"/>
              </a:lnSpc>
              <a:spcAft>
                <a:spcPts val="200"/>
              </a:spcAft>
            </a:pPr>
            <a:r>
              <a:rPr sz="950">
                <a:solidFill>
                  <a:srgbClr val="2B252A"/>
                </a:solidFill>
                <a:latin typeface="Arial"/>
              </a:rPr>
              <a:t>– The measurement layer for hormone therapy</a:t>
            </a:r>
          </a:p>
          <a:p>
            <a:pPr>
              <a:lnSpc>
                <a:spcPct val="98000"/>
              </a:lnSpc>
              <a:spcAft>
                <a:spcPts val="200"/>
              </a:spcAft>
            </a:pPr>
            <a:r>
              <a:rPr sz="950">
                <a:solidFill>
                  <a:srgbClr val="2B252A"/>
                </a:solidFill>
                <a:latin typeface="Arial"/>
              </a:rPr>
              <a:t>– iRhythm for titration</a:t>
            </a:r>
          </a:p>
        </p:txBody>
      </p:sp>
      <p:sp>
        <p:nvSpPr>
          <p:cNvPr id="20" name="Rectangle 19"/>
          <p:cNvSpPr/>
          <p:nvPr/>
        </p:nvSpPr>
        <p:spPr>
          <a:xfrm>
            <a:off x="7187184" y="1325880"/>
            <a:ext cx="2212848" cy="2331720"/>
          </a:xfrm>
          <a:prstGeom prst="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87184" y="1325880"/>
            <a:ext cx="2212848" cy="292608"/>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78624" y="1325880"/>
            <a:ext cx="2075688" cy="292608"/>
          </a:xfrm>
          <a:prstGeom prst="rect">
            <a:avLst/>
          </a:prstGeom>
          <a:noFill/>
        </p:spPr>
        <p:txBody>
          <a:bodyPr wrap="square" anchor="ctr" lIns="25400" rIns="25400" tIns="25400" bIns="25400">
            <a:spAutoFit/>
          </a:bodyPr>
          <a:lstStyle/>
          <a:p>
            <a:pPr algn="l">
              <a:lnSpc>
                <a:spcPct val="100000"/>
              </a:lnSpc>
              <a:spcAft>
                <a:spcPts val="400"/>
              </a:spcAft>
            </a:pPr>
            <a:r>
              <a:rPr sz="1050" b="1">
                <a:solidFill>
                  <a:srgbClr val="FFFFFF"/>
                </a:solidFill>
                <a:latin typeface="Arial"/>
              </a:rPr>
              <a:t>UNFAIR ADVANTAGE</a:t>
            </a:r>
          </a:p>
        </p:txBody>
      </p:sp>
      <p:sp>
        <p:nvSpPr>
          <p:cNvPr id="23" name="TextBox 22"/>
          <p:cNvSpPr txBox="1"/>
          <p:nvPr/>
        </p:nvSpPr>
        <p:spPr>
          <a:xfrm>
            <a:off x="7278624" y="1673352"/>
            <a:ext cx="2029968" cy="1947672"/>
          </a:xfrm>
          <a:prstGeom prst="rect">
            <a:avLst/>
          </a:prstGeom>
          <a:noFill/>
        </p:spPr>
        <p:txBody>
          <a:bodyPr wrap="square">
            <a:spAutoFit/>
          </a:bodyPr>
          <a:lstStyle/>
          <a:p>
            <a:pPr>
              <a:lnSpc>
                <a:spcPct val="98000"/>
              </a:lnSpc>
              <a:spcAft>
                <a:spcPts val="200"/>
              </a:spcAft>
            </a:pPr>
            <a:r>
              <a:rPr sz="950">
                <a:solidFill>
                  <a:srgbClr val="2B252A"/>
                </a:solidFill>
                <a:latin typeface="Arial"/>
              </a:rPr>
              <a:t>– Cross-clinic day-level dose-symptom dataset</a:t>
            </a:r>
          </a:p>
          <a:p>
            <a:pPr>
              <a:lnSpc>
                <a:spcPct val="98000"/>
              </a:lnSpc>
              <a:spcAft>
                <a:spcPts val="200"/>
              </a:spcAft>
            </a:pPr>
            <a:r>
              <a:rPr sz="950">
                <a:solidFill>
                  <a:srgbClr val="2B252A"/>
                </a:solidFill>
                <a:latin typeface="Arial"/>
              </a:rPr>
              <a:t>– Guideline-aligned</a:t>
            </a:r>
          </a:p>
          <a:p>
            <a:pPr>
              <a:lnSpc>
                <a:spcPct val="98000"/>
              </a:lnSpc>
              <a:spcAft>
                <a:spcPts val="200"/>
              </a:spcAft>
            </a:pPr>
            <a:r>
              <a:rPr sz="950">
                <a:solidFill>
                  <a:srgbClr val="2B252A"/>
                </a:solidFill>
                <a:latin typeface="Arial"/>
              </a:rPr>
              <a:t>– Provider-neutral &amp; portable</a:t>
            </a:r>
          </a:p>
        </p:txBody>
      </p:sp>
      <p:sp>
        <p:nvSpPr>
          <p:cNvPr id="24" name="Rectangle 23"/>
          <p:cNvSpPr/>
          <p:nvPr/>
        </p:nvSpPr>
        <p:spPr>
          <a:xfrm>
            <a:off x="9400032" y="1325880"/>
            <a:ext cx="2212848" cy="3749040"/>
          </a:xfrm>
          <a:prstGeom prst="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400032" y="1325880"/>
            <a:ext cx="2212848" cy="292608"/>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325880"/>
            <a:ext cx="2075688" cy="292608"/>
          </a:xfrm>
          <a:prstGeom prst="rect">
            <a:avLst/>
          </a:prstGeom>
          <a:noFill/>
        </p:spPr>
        <p:txBody>
          <a:bodyPr wrap="square" anchor="ctr" lIns="25400" rIns="25400" tIns="25400" bIns="25400">
            <a:spAutoFit/>
          </a:bodyPr>
          <a:lstStyle/>
          <a:p>
            <a:pPr algn="l">
              <a:lnSpc>
                <a:spcPct val="100000"/>
              </a:lnSpc>
              <a:spcAft>
                <a:spcPts val="400"/>
              </a:spcAft>
            </a:pPr>
            <a:r>
              <a:rPr sz="1050" b="1">
                <a:solidFill>
                  <a:srgbClr val="FFFFFF"/>
                </a:solidFill>
                <a:latin typeface="Arial"/>
              </a:rPr>
              <a:t>CUSTOMER SEGMENTS</a:t>
            </a:r>
          </a:p>
        </p:txBody>
      </p:sp>
      <p:sp>
        <p:nvSpPr>
          <p:cNvPr id="27" name="TextBox 26"/>
          <p:cNvSpPr txBox="1"/>
          <p:nvPr/>
        </p:nvSpPr>
        <p:spPr>
          <a:xfrm>
            <a:off x="9491472" y="1673352"/>
            <a:ext cx="2029968" cy="3364992"/>
          </a:xfrm>
          <a:prstGeom prst="rect">
            <a:avLst/>
          </a:prstGeom>
          <a:noFill/>
        </p:spPr>
        <p:txBody>
          <a:bodyPr wrap="square">
            <a:spAutoFit/>
          </a:bodyPr>
          <a:lstStyle/>
          <a:p>
            <a:pPr>
              <a:lnSpc>
                <a:spcPct val="98000"/>
              </a:lnSpc>
              <a:spcAft>
                <a:spcPts val="200"/>
              </a:spcAft>
            </a:pPr>
            <a:r>
              <a:rPr sz="950">
                <a:solidFill>
                  <a:srgbClr val="2B252A"/>
                </a:solidFill>
                <a:latin typeface="Arial"/>
              </a:rPr>
              <a:t>– Users: women starting HRT / menopause meds</a:t>
            </a:r>
          </a:p>
          <a:p>
            <a:pPr>
              <a:lnSpc>
                <a:spcPct val="98000"/>
              </a:lnSpc>
              <a:spcAft>
                <a:spcPts val="200"/>
              </a:spcAft>
            </a:pPr>
            <a:r>
              <a:rPr sz="950">
                <a:solidFill>
                  <a:srgbClr val="2B252A"/>
                </a:solidFill>
                <a:latin typeface="Arial"/>
              </a:rPr>
              <a:t>– Beachhead: month 0–6, esp. Canada w/o family doctor</a:t>
            </a:r>
          </a:p>
          <a:p>
            <a:pPr>
              <a:lnSpc>
                <a:spcPct val="98000"/>
              </a:lnSpc>
              <a:spcAft>
                <a:spcPts val="200"/>
              </a:spcAft>
            </a:pPr>
            <a:r>
              <a:rPr sz="950">
                <a:solidFill>
                  <a:srgbClr val="2B252A"/>
                </a:solidFill>
                <a:latin typeface="Arial"/>
              </a:rPr>
              <a:t>– Payers: pharma, clinics, RTM, benefits</a:t>
            </a:r>
          </a:p>
        </p:txBody>
      </p:sp>
      <p:sp>
        <p:nvSpPr>
          <p:cNvPr id="28" name="Rectangle 27"/>
          <p:cNvSpPr/>
          <p:nvPr/>
        </p:nvSpPr>
        <p:spPr>
          <a:xfrm>
            <a:off x="2761488" y="3703320"/>
            <a:ext cx="2212848" cy="1371600"/>
          </a:xfrm>
          <a:prstGeom prst="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61488" y="3703320"/>
            <a:ext cx="2212848" cy="292608"/>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52928" y="3703320"/>
            <a:ext cx="2075688" cy="292608"/>
          </a:xfrm>
          <a:prstGeom prst="rect">
            <a:avLst/>
          </a:prstGeom>
          <a:noFill/>
        </p:spPr>
        <p:txBody>
          <a:bodyPr wrap="square" anchor="ctr" lIns="25400" rIns="25400" tIns="25400" bIns="25400">
            <a:spAutoFit/>
          </a:bodyPr>
          <a:lstStyle/>
          <a:p>
            <a:pPr algn="l">
              <a:lnSpc>
                <a:spcPct val="100000"/>
              </a:lnSpc>
              <a:spcAft>
                <a:spcPts val="400"/>
              </a:spcAft>
            </a:pPr>
            <a:r>
              <a:rPr sz="1050" b="1">
                <a:solidFill>
                  <a:srgbClr val="FFFFFF"/>
                </a:solidFill>
                <a:latin typeface="Arial"/>
              </a:rPr>
              <a:t>CHANNELS</a:t>
            </a:r>
          </a:p>
        </p:txBody>
      </p:sp>
      <p:sp>
        <p:nvSpPr>
          <p:cNvPr id="31" name="TextBox 30"/>
          <p:cNvSpPr txBox="1"/>
          <p:nvPr/>
        </p:nvSpPr>
        <p:spPr>
          <a:xfrm>
            <a:off x="2852928" y="4050792"/>
            <a:ext cx="2029968" cy="987552"/>
          </a:xfrm>
          <a:prstGeom prst="rect">
            <a:avLst/>
          </a:prstGeom>
          <a:noFill/>
        </p:spPr>
        <p:txBody>
          <a:bodyPr wrap="square">
            <a:spAutoFit/>
          </a:bodyPr>
          <a:lstStyle/>
          <a:p>
            <a:pPr>
              <a:lnSpc>
                <a:spcPct val="98000"/>
              </a:lnSpc>
              <a:spcAft>
                <a:spcPts val="200"/>
              </a:spcAft>
            </a:pPr>
            <a:r>
              <a:rPr sz="950">
                <a:solidFill>
                  <a:srgbClr val="2B252A"/>
                </a:solidFill>
                <a:latin typeface="Arial"/>
              </a:rPr>
              <a:t>– Embed in virtual clinics</a:t>
            </a:r>
          </a:p>
          <a:p>
            <a:pPr>
              <a:lnSpc>
                <a:spcPct val="98000"/>
              </a:lnSpc>
              <a:spcAft>
                <a:spcPts val="200"/>
              </a:spcAft>
            </a:pPr>
            <a:r>
              <a:rPr sz="950">
                <a:solidFill>
                  <a:srgbClr val="2B252A"/>
                </a:solidFill>
                <a:latin typeface="Arial"/>
              </a:rPr>
              <a:t>– Pharmacist channel (CA)</a:t>
            </a:r>
          </a:p>
          <a:p>
            <a:pPr>
              <a:lnSpc>
                <a:spcPct val="98000"/>
              </a:lnSpc>
              <a:spcAft>
                <a:spcPts val="200"/>
              </a:spcAft>
            </a:pPr>
            <a:r>
              <a:rPr sz="950">
                <a:solidFill>
                  <a:srgbClr val="2B252A"/>
                </a:solidFill>
                <a:latin typeface="Arial"/>
              </a:rPr>
              <a:t>– DTC landing page</a:t>
            </a:r>
          </a:p>
          <a:p>
            <a:pPr>
              <a:lnSpc>
                <a:spcPct val="98000"/>
              </a:lnSpc>
              <a:spcAft>
                <a:spcPts val="200"/>
              </a:spcAft>
            </a:pPr>
            <a:r>
              <a:rPr sz="950">
                <a:solidFill>
                  <a:srgbClr val="2B252A"/>
                </a:solidFill>
                <a:latin typeface="Arial"/>
              </a:rPr>
              <a:t>– Pharma partnerships</a:t>
            </a:r>
          </a:p>
        </p:txBody>
      </p:sp>
      <p:sp>
        <p:nvSpPr>
          <p:cNvPr id="32" name="Rectangle 31"/>
          <p:cNvSpPr/>
          <p:nvPr/>
        </p:nvSpPr>
        <p:spPr>
          <a:xfrm>
            <a:off x="7187184" y="3703320"/>
            <a:ext cx="2212848" cy="1371600"/>
          </a:xfrm>
          <a:prstGeom prst="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187184" y="3703320"/>
            <a:ext cx="2212848" cy="292608"/>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78624" y="3703320"/>
            <a:ext cx="2075688" cy="292608"/>
          </a:xfrm>
          <a:prstGeom prst="rect">
            <a:avLst/>
          </a:prstGeom>
          <a:noFill/>
        </p:spPr>
        <p:txBody>
          <a:bodyPr wrap="square" anchor="ctr" lIns="25400" rIns="25400" tIns="25400" bIns="25400">
            <a:spAutoFit/>
          </a:bodyPr>
          <a:lstStyle/>
          <a:p>
            <a:pPr algn="l">
              <a:lnSpc>
                <a:spcPct val="100000"/>
              </a:lnSpc>
              <a:spcAft>
                <a:spcPts val="400"/>
              </a:spcAft>
            </a:pPr>
            <a:r>
              <a:rPr sz="1050" b="1">
                <a:solidFill>
                  <a:srgbClr val="FFFFFF"/>
                </a:solidFill>
                <a:latin typeface="Arial"/>
              </a:rPr>
              <a:t>COST STRUCTURE</a:t>
            </a:r>
          </a:p>
        </p:txBody>
      </p:sp>
      <p:sp>
        <p:nvSpPr>
          <p:cNvPr id="35" name="TextBox 34"/>
          <p:cNvSpPr txBox="1"/>
          <p:nvPr/>
        </p:nvSpPr>
        <p:spPr>
          <a:xfrm>
            <a:off x="7278624" y="4050792"/>
            <a:ext cx="2029968" cy="987552"/>
          </a:xfrm>
          <a:prstGeom prst="rect">
            <a:avLst/>
          </a:prstGeom>
          <a:noFill/>
        </p:spPr>
        <p:txBody>
          <a:bodyPr wrap="square">
            <a:spAutoFit/>
          </a:bodyPr>
          <a:lstStyle/>
          <a:p>
            <a:pPr>
              <a:lnSpc>
                <a:spcPct val="98000"/>
              </a:lnSpc>
              <a:spcAft>
                <a:spcPts val="200"/>
              </a:spcAft>
            </a:pPr>
            <a:r>
              <a:rPr sz="950">
                <a:solidFill>
                  <a:srgbClr val="2B252A"/>
                </a:solidFill>
                <a:latin typeface="Arial"/>
              </a:rPr>
              <a:t>– Product &amp; engineering</a:t>
            </a:r>
          </a:p>
          <a:p>
            <a:pPr>
              <a:lnSpc>
                <a:spcPct val="98000"/>
              </a:lnSpc>
              <a:spcAft>
                <a:spcPts val="200"/>
              </a:spcAft>
            </a:pPr>
            <a:r>
              <a:rPr sz="950">
                <a:solidFill>
                  <a:srgbClr val="2B252A"/>
                </a:solidFill>
                <a:latin typeface="Arial"/>
              </a:rPr>
              <a:t>– Clinical / regulatory (SaMD)</a:t>
            </a:r>
          </a:p>
          <a:p>
            <a:pPr>
              <a:lnSpc>
                <a:spcPct val="98000"/>
              </a:lnSpc>
              <a:spcAft>
                <a:spcPts val="200"/>
              </a:spcAft>
            </a:pPr>
            <a:r>
              <a:rPr sz="950">
                <a:solidFill>
                  <a:srgbClr val="2B252A"/>
                </a:solidFill>
                <a:latin typeface="Arial"/>
              </a:rPr>
              <a:t>– Data infra + pilot</a:t>
            </a:r>
          </a:p>
        </p:txBody>
      </p:sp>
      <p:sp>
        <p:nvSpPr>
          <p:cNvPr id="36" name="Rectangle 35"/>
          <p:cNvSpPr/>
          <p:nvPr/>
        </p:nvSpPr>
        <p:spPr>
          <a:xfrm>
            <a:off x="548640" y="5120640"/>
            <a:ext cx="4471416" cy="1234440"/>
          </a:xfrm>
          <a:prstGeom prst="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8640" y="5120640"/>
            <a:ext cx="4471416" cy="292608"/>
          </a:xfrm>
          <a:prstGeom prst="rect">
            <a:avLst/>
          </a:prstGeom>
          <a:solidFill>
            <a:srgbClr val="6E3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5120640"/>
            <a:ext cx="3657600" cy="292608"/>
          </a:xfrm>
          <a:prstGeom prst="rect">
            <a:avLst/>
          </a:prstGeom>
          <a:noFill/>
        </p:spPr>
        <p:txBody>
          <a:bodyPr wrap="square" anchor="ctr" lIns="25400" rIns="25400" tIns="25400" bIns="25400">
            <a:spAutoFit/>
          </a:bodyPr>
          <a:lstStyle/>
          <a:p>
            <a:pPr algn="l">
              <a:lnSpc>
                <a:spcPct val="100000"/>
              </a:lnSpc>
              <a:spcAft>
                <a:spcPts val="400"/>
              </a:spcAft>
            </a:pPr>
            <a:r>
              <a:rPr sz="1050" b="1">
                <a:solidFill>
                  <a:srgbClr val="FFFFFF"/>
                </a:solidFill>
                <a:latin typeface="Arial"/>
              </a:rPr>
              <a:t>KEY METRICS</a:t>
            </a:r>
          </a:p>
        </p:txBody>
      </p:sp>
      <p:sp>
        <p:nvSpPr>
          <p:cNvPr id="39" name="TextBox 38"/>
          <p:cNvSpPr txBox="1"/>
          <p:nvPr/>
        </p:nvSpPr>
        <p:spPr>
          <a:xfrm>
            <a:off x="685800" y="5486400"/>
            <a:ext cx="4242816" cy="914400"/>
          </a:xfrm>
          <a:prstGeom prst="rect">
            <a:avLst/>
          </a:prstGeom>
          <a:noFill/>
        </p:spPr>
        <p:txBody>
          <a:bodyPr wrap="square" anchor="t" lIns="25400" rIns="25400" tIns="25400" bIns="25400">
            <a:spAutoFit/>
          </a:bodyPr>
          <a:lstStyle/>
          <a:p>
            <a:pPr algn="l">
              <a:lnSpc>
                <a:spcPct val="105000"/>
              </a:lnSpc>
              <a:spcAft>
                <a:spcPts val="400"/>
              </a:spcAft>
            </a:pPr>
            <a:r>
              <a:rPr sz="1000" b="0">
                <a:solidFill>
                  <a:srgbClr val="2B252A"/>
                </a:solidFill>
                <a:latin typeface="Arial"/>
              </a:rPr>
              <a:t>– 8-wk check-in completion &gt;60%   – 6-mo treatment-retention lift</a:t>
            </a:r>
          </a:p>
          <a:p>
            <a:pPr algn="l">
              <a:lnSpc>
                <a:spcPct val="105000"/>
              </a:lnSpc>
              <a:spcAft>
                <a:spcPts val="400"/>
              </a:spcAft>
            </a:pPr>
            <a:r>
              <a:rPr sz="1000" b="0">
                <a:solidFill>
                  <a:srgbClr val="2B252A"/>
                </a:solidFill>
                <a:latin typeface="Arial"/>
              </a:rPr>
              <a:t>– titration rounds reduced   – RTM $ captured / patient</a:t>
            </a:r>
          </a:p>
        </p:txBody>
      </p:sp>
      <p:sp>
        <p:nvSpPr>
          <p:cNvPr id="40" name="Rectangle 39"/>
          <p:cNvSpPr/>
          <p:nvPr/>
        </p:nvSpPr>
        <p:spPr>
          <a:xfrm>
            <a:off x="7232904" y="5120640"/>
            <a:ext cx="4425696" cy="1234440"/>
          </a:xfrm>
          <a:prstGeom prst="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232904" y="5120640"/>
            <a:ext cx="4425696" cy="2926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24344" y="5120640"/>
            <a:ext cx="3657600" cy="292608"/>
          </a:xfrm>
          <a:prstGeom prst="rect">
            <a:avLst/>
          </a:prstGeom>
          <a:noFill/>
        </p:spPr>
        <p:txBody>
          <a:bodyPr wrap="square" anchor="ctr" lIns="25400" rIns="25400" tIns="25400" bIns="25400">
            <a:spAutoFit/>
          </a:bodyPr>
          <a:lstStyle/>
          <a:p>
            <a:pPr algn="l">
              <a:lnSpc>
                <a:spcPct val="100000"/>
              </a:lnSpc>
              <a:spcAft>
                <a:spcPts val="400"/>
              </a:spcAft>
            </a:pPr>
            <a:r>
              <a:rPr sz="1050" b="1">
                <a:solidFill>
                  <a:srgbClr val="FFFFFF"/>
                </a:solidFill>
                <a:latin typeface="Arial"/>
              </a:rPr>
              <a:t>REVENUE STREAMS</a:t>
            </a:r>
          </a:p>
        </p:txBody>
      </p:sp>
      <p:sp>
        <p:nvSpPr>
          <p:cNvPr id="43" name="TextBox 42"/>
          <p:cNvSpPr txBox="1"/>
          <p:nvPr/>
        </p:nvSpPr>
        <p:spPr>
          <a:xfrm>
            <a:off x="7370064" y="5486400"/>
            <a:ext cx="4242816" cy="914400"/>
          </a:xfrm>
          <a:prstGeom prst="rect">
            <a:avLst/>
          </a:prstGeom>
          <a:noFill/>
        </p:spPr>
        <p:txBody>
          <a:bodyPr wrap="square" anchor="t" lIns="25400" rIns="25400" tIns="25400" bIns="25400">
            <a:spAutoFit/>
          </a:bodyPr>
          <a:lstStyle/>
          <a:p>
            <a:pPr algn="l">
              <a:lnSpc>
                <a:spcPct val="105000"/>
              </a:lnSpc>
              <a:spcAft>
                <a:spcPts val="400"/>
              </a:spcAft>
            </a:pPr>
            <a:r>
              <a:rPr sz="1000" b="0">
                <a:solidFill>
                  <a:srgbClr val="2B252A"/>
                </a:solidFill>
                <a:latin typeface="Arial"/>
              </a:rPr>
              <a:t>– Pharma: adherence + RWE contracts ($50k–5M)   – RTM billing share (US, ~$94/pt/mo)</a:t>
            </a:r>
          </a:p>
          <a:p>
            <a:pPr algn="l">
              <a:lnSpc>
                <a:spcPct val="105000"/>
              </a:lnSpc>
              <a:spcAft>
                <a:spcPts val="400"/>
              </a:spcAft>
            </a:pPr>
            <a:r>
              <a:rPr sz="1000" b="0">
                <a:solidFill>
                  <a:srgbClr val="2B252A"/>
                </a:solidFill>
                <a:latin typeface="Arial"/>
              </a:rPr>
              <a:t>– Clinic subscription / DTC assist ($10–15/mo)   – Canada: benefits + MedsCheck-linked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LANDING PAGE</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Smoke-test to measure real demand &amp; price</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11</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Rounded Rectangle 7"/>
          <p:cNvSpPr/>
          <p:nvPr/>
        </p:nvSpPr>
        <p:spPr>
          <a:xfrm>
            <a:off x="548640" y="1371600"/>
            <a:ext cx="5852160" cy="4663440"/>
          </a:xfrm>
          <a:prstGeom prst="roundRect">
            <a:avLst/>
          </a:prstGeom>
          <a:solidFill>
            <a:srgbClr val="FFFFFF"/>
          </a:solidFill>
          <a:ln w="1524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371600"/>
            <a:ext cx="5852160" cy="457200"/>
          </a:xfrm>
          <a:prstGeom prst="roundRect">
            <a:avLst/>
          </a:prstGeom>
          <a:solidFill>
            <a:srgbClr val="F6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1508760"/>
            <a:ext cx="146304" cy="146304"/>
          </a:xfrm>
          <a:prstGeom prst="ellipse">
            <a:avLst/>
          </a:prstGeom>
          <a:solidFill>
            <a:srgbClr val="E3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87552" y="1508760"/>
            <a:ext cx="146304" cy="146304"/>
          </a:xfrm>
          <a:prstGeom prst="ellipse">
            <a:avLst/>
          </a:prstGeom>
          <a:solidFill>
            <a:srgbClr val="E3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243584" y="1508760"/>
            <a:ext cx="146304" cy="146304"/>
          </a:xfrm>
          <a:prstGeom prst="ellipse">
            <a:avLst/>
          </a:prstGeom>
          <a:solidFill>
            <a:srgbClr val="E3D8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37360" y="1417320"/>
            <a:ext cx="4389120" cy="365760"/>
          </a:xfrm>
          <a:prstGeom prst="rect">
            <a:avLst/>
          </a:prstGeom>
          <a:noFill/>
        </p:spPr>
        <p:txBody>
          <a:bodyPr wrap="square" anchor="ctr" lIns="25400" rIns="25400" tIns="25400" bIns="25400">
            <a:spAutoFit/>
          </a:bodyPr>
          <a:lstStyle/>
          <a:p>
            <a:pPr algn="l">
              <a:lnSpc>
                <a:spcPct val="100000"/>
              </a:lnSpc>
              <a:spcAft>
                <a:spcPts val="400"/>
              </a:spcAft>
            </a:pPr>
            <a:r>
              <a:rPr sz="1100" b="0">
                <a:solidFill>
                  <a:srgbClr val="6B6368"/>
                </a:solidFill>
                <a:latin typeface="Arial"/>
              </a:rPr>
              <a:t>  attune.health</a:t>
            </a:r>
          </a:p>
        </p:txBody>
      </p:sp>
      <p:sp>
        <p:nvSpPr>
          <p:cNvPr id="14" name="Rounded Rectangle 13"/>
          <p:cNvSpPr/>
          <p:nvPr/>
        </p:nvSpPr>
        <p:spPr>
          <a:xfrm>
            <a:off x="822960" y="2057400"/>
            <a:ext cx="5303520" cy="1371600"/>
          </a:xfrm>
          <a:prstGeom prst="round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194560"/>
            <a:ext cx="4937760" cy="1097280"/>
          </a:xfrm>
          <a:prstGeom prst="rect">
            <a:avLst/>
          </a:prstGeom>
          <a:noFill/>
        </p:spPr>
        <p:txBody>
          <a:bodyPr wrap="square" anchor="ctr" lIns="25400" rIns="25400" tIns="25400" bIns="25400">
            <a:spAutoFit/>
          </a:bodyPr>
          <a:lstStyle/>
          <a:p>
            <a:pPr algn="l">
              <a:lnSpc>
                <a:spcPct val="105000"/>
              </a:lnSpc>
              <a:spcAft>
                <a:spcPts val="400"/>
              </a:spcAft>
            </a:pPr>
            <a:r>
              <a:rPr sz="1800" b="1">
                <a:solidFill>
                  <a:srgbClr val="FFFFFF"/>
                </a:solidFill>
                <a:latin typeface="Arial"/>
              </a:rPr>
              <a:t>Started HRT? Know if you’re on track —</a:t>
            </a:r>
          </a:p>
          <a:p>
            <a:pPr algn="l">
              <a:lnSpc>
                <a:spcPct val="105000"/>
              </a:lnSpc>
              <a:spcAft>
                <a:spcPts val="400"/>
              </a:spcAft>
            </a:pPr>
            <a:r>
              <a:rPr sz="1800" b="1">
                <a:solidFill>
                  <a:srgbClr val="C89B3C"/>
                </a:solidFill>
                <a:latin typeface="Arial"/>
              </a:rPr>
              <a:t>before you give up on it.</a:t>
            </a:r>
          </a:p>
        </p:txBody>
      </p:sp>
      <p:sp>
        <p:nvSpPr>
          <p:cNvPr id="16" name="TextBox 15"/>
          <p:cNvSpPr txBox="1"/>
          <p:nvPr/>
        </p:nvSpPr>
        <p:spPr>
          <a:xfrm>
            <a:off x="1005840" y="3611880"/>
            <a:ext cx="4937760" cy="822960"/>
          </a:xfrm>
          <a:prstGeom prst="rect">
            <a:avLst/>
          </a:prstGeom>
          <a:noFill/>
        </p:spPr>
        <p:txBody>
          <a:bodyPr wrap="square" anchor="t" lIns="25400" rIns="25400" tIns="25400" bIns="25400">
            <a:spAutoFit/>
          </a:bodyPr>
          <a:lstStyle/>
          <a:p>
            <a:pPr algn="l">
              <a:lnSpc>
                <a:spcPct val="110000"/>
              </a:lnSpc>
              <a:spcAft>
                <a:spcPts val="400"/>
              </a:spcAft>
            </a:pPr>
            <a:r>
              <a:rPr sz="1250" b="0">
                <a:solidFill>
                  <a:srgbClr val="2B252A"/>
                </a:solidFill>
                <a:latin typeface="Arial"/>
              </a:rPr>
              <a:t>A 30-second daily check-in tells you what your symptoms mean, and gives your doctor the full picture.</a:t>
            </a:r>
          </a:p>
        </p:txBody>
      </p:sp>
      <p:sp>
        <p:nvSpPr>
          <p:cNvPr id="17" name="Rounded Rectangle 16"/>
          <p:cNvSpPr/>
          <p:nvPr/>
        </p:nvSpPr>
        <p:spPr>
          <a:xfrm>
            <a:off x="1005840" y="4526280"/>
            <a:ext cx="2743200" cy="548640"/>
          </a:xfrm>
          <a:prstGeom prst="round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526280"/>
            <a:ext cx="2743200" cy="548640"/>
          </a:xfrm>
          <a:prstGeom prst="rect">
            <a:avLst/>
          </a:prstGeom>
          <a:noFill/>
        </p:spPr>
        <p:txBody>
          <a:bodyPr wrap="square" anchor="ctr" lIns="25400" rIns="25400" tIns="25400" bIns="25400">
            <a:spAutoFit/>
          </a:bodyPr>
          <a:lstStyle/>
          <a:p>
            <a:pPr algn="ctr">
              <a:lnSpc>
                <a:spcPct val="100000"/>
              </a:lnSpc>
              <a:spcAft>
                <a:spcPts val="400"/>
              </a:spcAft>
            </a:pPr>
            <a:r>
              <a:rPr sz="1300" b="1">
                <a:solidFill>
                  <a:srgbClr val="FFFFFF"/>
                </a:solidFill>
                <a:latin typeface="Arial"/>
              </a:rPr>
              <a:t>Get early access — $12/mo</a:t>
            </a:r>
          </a:p>
        </p:txBody>
      </p:sp>
      <p:sp>
        <p:nvSpPr>
          <p:cNvPr id="19" name="TextBox 18"/>
          <p:cNvSpPr txBox="1"/>
          <p:nvPr/>
        </p:nvSpPr>
        <p:spPr>
          <a:xfrm>
            <a:off x="1005840" y="5257800"/>
            <a:ext cx="4937760" cy="548640"/>
          </a:xfrm>
          <a:prstGeom prst="rect">
            <a:avLst/>
          </a:prstGeom>
          <a:noFill/>
        </p:spPr>
        <p:txBody>
          <a:bodyPr wrap="square" anchor="t" lIns="25400" rIns="25400" tIns="25400" bIns="25400">
            <a:spAutoFit/>
          </a:bodyPr>
          <a:lstStyle/>
          <a:p>
            <a:pPr algn="l">
              <a:lnSpc>
                <a:spcPct val="100000"/>
              </a:lnSpc>
              <a:spcAft>
                <a:spcPts val="400"/>
              </a:spcAft>
            </a:pPr>
            <a:r>
              <a:rPr sz="1200" b="0">
                <a:solidFill>
                  <a:srgbClr val="6B6368"/>
                </a:solidFill>
                <a:latin typeface="Arial"/>
              </a:rPr>
              <a:t>Enter email  ▸  </a:t>
            </a:r>
            <a:r>
              <a:rPr sz="1200" b="1">
                <a:solidFill>
                  <a:srgbClr val="4A1F3D"/>
                </a:solidFill>
                <a:latin typeface="Arial"/>
              </a:rPr>
              <a:t>[waitlist]</a:t>
            </a:r>
          </a:p>
        </p:txBody>
      </p:sp>
      <p:sp>
        <p:nvSpPr>
          <p:cNvPr id="20" name="TextBox 19"/>
          <p:cNvSpPr txBox="1"/>
          <p:nvPr/>
        </p:nvSpPr>
        <p:spPr>
          <a:xfrm>
            <a:off x="6766560" y="1554480"/>
            <a:ext cx="4937760" cy="457200"/>
          </a:xfrm>
          <a:prstGeom prst="rect">
            <a:avLst/>
          </a:prstGeom>
          <a:noFill/>
        </p:spPr>
        <p:txBody>
          <a:bodyPr wrap="square" anchor="t" lIns="25400" rIns="25400" tIns="25400" bIns="25400">
            <a:spAutoFit/>
          </a:bodyPr>
          <a:lstStyle/>
          <a:p>
            <a:pPr algn="l">
              <a:lnSpc>
                <a:spcPct val="100000"/>
              </a:lnSpc>
              <a:spcAft>
                <a:spcPts val="400"/>
              </a:spcAft>
            </a:pPr>
            <a:r>
              <a:rPr sz="1700" b="1">
                <a:solidFill>
                  <a:srgbClr val="4A1F3D"/>
                </a:solidFill>
                <a:latin typeface="Arial"/>
              </a:rPr>
              <a:t>What the page tests</a:t>
            </a:r>
          </a:p>
        </p:txBody>
      </p:sp>
      <p:sp>
        <p:nvSpPr>
          <p:cNvPr id="21" name="TextBox 20"/>
          <p:cNvSpPr txBox="1"/>
          <p:nvPr/>
        </p:nvSpPr>
        <p:spPr>
          <a:xfrm>
            <a:off x="6766560" y="2148840"/>
            <a:ext cx="4937760" cy="3657600"/>
          </a:xfrm>
          <a:prstGeom prst="rect">
            <a:avLst/>
          </a:prstGeom>
          <a:noFill/>
        </p:spPr>
        <p:txBody>
          <a:bodyPr wrap="square">
            <a:spAutoFit/>
          </a:bodyPr>
          <a:lstStyle/>
          <a:p>
            <a:pPr>
              <a:lnSpc>
                <a:spcPct val="105000"/>
              </a:lnSpc>
              <a:spcAft>
                <a:spcPts val="1100"/>
              </a:spcAft>
            </a:pPr>
            <a:r>
              <a:rPr sz="1350" b="1">
                <a:solidFill>
                  <a:srgbClr val="C96F8A"/>
                </a:solidFill>
                <a:latin typeface="Arial"/>
              </a:rPr>
              <a:t>•  </a:t>
            </a:r>
            <a:r>
              <a:rPr sz="1350" b="0">
                <a:solidFill>
                  <a:srgbClr val="2B252A"/>
                </a:solidFill>
                <a:latin typeface="Arial"/>
              </a:rPr>
              <a:t>Headline demand: visit → email conversion rate</a:t>
            </a:r>
          </a:p>
          <a:p>
            <a:pPr>
              <a:lnSpc>
                <a:spcPct val="105000"/>
              </a:lnSpc>
              <a:spcAft>
                <a:spcPts val="1100"/>
              </a:spcAft>
            </a:pPr>
            <a:r>
              <a:rPr sz="1350" b="1">
                <a:solidFill>
                  <a:srgbClr val="C96F8A"/>
                </a:solidFill>
                <a:latin typeface="Arial"/>
              </a:rPr>
              <a:t>•  </a:t>
            </a:r>
            <a:r>
              <a:rPr sz="1350" b="1">
                <a:solidFill>
                  <a:srgbClr val="4A1F3D"/>
                </a:solidFill>
                <a:latin typeface="Arial"/>
              </a:rPr>
              <a:t>Price signal: </a:t>
            </a:r>
            <a:r>
              <a:rPr sz="1350" b="0">
                <a:solidFill>
                  <a:srgbClr val="2B252A"/>
                </a:solidFill>
                <a:latin typeface="Arial"/>
              </a:rPr>
              <a:t>$12/mo shown up-front to filter for willingness to pay</a:t>
            </a:r>
          </a:p>
          <a:p>
            <a:pPr>
              <a:lnSpc>
                <a:spcPct val="105000"/>
              </a:lnSpc>
              <a:spcAft>
                <a:spcPts val="1100"/>
              </a:spcAft>
            </a:pPr>
            <a:r>
              <a:rPr sz="1350" b="1">
                <a:solidFill>
                  <a:srgbClr val="C96F8A"/>
                </a:solidFill>
                <a:latin typeface="Arial"/>
              </a:rPr>
              <a:t>•  </a:t>
            </a:r>
            <a:r>
              <a:rPr sz="1350" b="0">
                <a:solidFill>
                  <a:srgbClr val="2B252A"/>
                </a:solidFill>
                <a:latin typeface="Arial"/>
              </a:rPr>
              <a:t>Message A/B: “on track before you quit” vs “feel like yourself again”</a:t>
            </a:r>
          </a:p>
          <a:p>
            <a:pPr>
              <a:lnSpc>
                <a:spcPct val="105000"/>
              </a:lnSpc>
              <a:spcAft>
                <a:spcPts val="1100"/>
              </a:spcAft>
            </a:pPr>
            <a:r>
              <a:rPr sz="1350" b="1">
                <a:solidFill>
                  <a:srgbClr val="C96F8A"/>
                </a:solidFill>
                <a:latin typeface="Arial"/>
              </a:rPr>
              <a:t>•  </a:t>
            </a:r>
            <a:r>
              <a:rPr sz="1350" b="0">
                <a:solidFill>
                  <a:srgbClr val="2B252A"/>
                </a:solidFill>
                <a:latin typeface="Arial"/>
              </a:rPr>
              <a:t>Segment capture: newly-started vs considering; Canada vs US</a:t>
            </a:r>
          </a:p>
          <a:p>
            <a:pPr>
              <a:lnSpc>
                <a:spcPct val="105000"/>
              </a:lnSpc>
              <a:spcAft>
                <a:spcPts val="1100"/>
              </a:spcAft>
            </a:pPr>
            <a:r>
              <a:rPr sz="1350" b="1">
                <a:solidFill>
                  <a:srgbClr val="C96F8A"/>
                </a:solidFill>
                <a:latin typeface="Arial"/>
              </a:rPr>
              <a:t>•  </a:t>
            </a:r>
            <a:r>
              <a:rPr sz="1350" b="1">
                <a:solidFill>
                  <a:srgbClr val="4A1F3D"/>
                </a:solidFill>
                <a:latin typeface="Arial"/>
              </a:rPr>
              <a:t>Output: </a:t>
            </a:r>
            <a:r>
              <a:rPr sz="1350" b="0">
                <a:solidFill>
                  <a:srgbClr val="2B252A"/>
                </a:solidFill>
                <a:latin typeface="Arial"/>
              </a:rPr>
              <a:t>a real conversion number for Milestone #3 — the hardest slide to fake</a:t>
            </a:r>
          </a:p>
        </p:txBody>
      </p:sp>
      <p:sp>
        <p:nvSpPr>
          <p:cNvPr id="22" name="TextBox 21"/>
          <p:cNvSpPr txBox="1"/>
          <p:nvPr/>
        </p:nvSpPr>
        <p:spPr>
          <a:xfrm>
            <a:off x="6766560" y="5394960"/>
            <a:ext cx="4937760" cy="731520"/>
          </a:xfrm>
          <a:prstGeom prst="rect">
            <a:avLst/>
          </a:prstGeom>
          <a:noFill/>
        </p:spPr>
        <p:txBody>
          <a:bodyPr wrap="square" anchor="t" lIns="25400" rIns="25400" tIns="25400" bIns="25400">
            <a:spAutoFit/>
          </a:bodyPr>
          <a:lstStyle/>
          <a:p>
            <a:pPr algn="l">
              <a:lnSpc>
                <a:spcPct val="105000"/>
              </a:lnSpc>
              <a:spcAft>
                <a:spcPts val="400"/>
              </a:spcAft>
            </a:pPr>
            <a:r>
              <a:rPr sz="1250" b="1">
                <a:solidFill>
                  <a:srgbClr val="C96F8A"/>
                </a:solidFill>
                <a:latin typeface="Arial"/>
              </a:rPr>
              <a:t>Status: </a:t>
            </a:r>
            <a:r>
              <a:rPr sz="1250" b="0" i="1">
                <a:solidFill>
                  <a:srgbClr val="6B6368"/>
                </a:solidFill>
                <a:latin typeface="Arial"/>
              </a:rPr>
              <a:t>copy + design ready; live smoke-test with small paid traffic is the next build. [Insert live URL / QR before the talk].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
            <a:ext cx="10058400" cy="32004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C96F8A"/>
                </a:solidFill>
                <a:latin typeface="Arial"/>
              </a:rPr>
              <a:t>DISCOVERY INTERVIEWS</a:t>
            </a:r>
          </a:p>
        </p:txBody>
      </p:sp>
      <p:sp>
        <p:nvSpPr>
          <p:cNvPr id="5" name="TextBox 4"/>
          <p:cNvSpPr txBox="1"/>
          <p:nvPr/>
        </p:nvSpPr>
        <p:spPr>
          <a:xfrm>
            <a:off x="548640" y="402336"/>
            <a:ext cx="10515600" cy="566928"/>
          </a:xfrm>
          <a:prstGeom prst="rect">
            <a:avLst/>
          </a:prstGeom>
          <a:noFill/>
        </p:spPr>
        <p:txBody>
          <a:bodyPr wrap="square" anchor="ctr" lIns="25400" rIns="25400" tIns="25400" bIns="25400">
            <a:spAutoFit/>
          </a:bodyPr>
          <a:lstStyle/>
          <a:p>
            <a:pPr algn="l">
              <a:lnSpc>
                <a:spcPct val="100000"/>
              </a:lnSpc>
              <a:spcAft>
                <a:spcPts val="400"/>
              </a:spcAft>
            </a:pPr>
            <a:r>
              <a:rPr sz="2700" b="1">
                <a:solidFill>
                  <a:srgbClr val="FFFFFF"/>
                </a:solidFill>
                <a:latin typeface="Arial"/>
              </a:rPr>
              <a:t>3 conversations so far — pain confirmed, two buyer signals</a:t>
            </a:r>
          </a:p>
        </p:txBody>
      </p:sp>
      <p:sp>
        <p:nvSpPr>
          <p:cNvPr id="6" name="TextBox 5"/>
          <p:cNvSpPr txBox="1"/>
          <p:nvPr/>
        </p:nvSpPr>
        <p:spPr>
          <a:xfrm>
            <a:off x="11338560" y="146304"/>
            <a:ext cx="640080" cy="365760"/>
          </a:xfrm>
          <a:prstGeom prst="rect">
            <a:avLst/>
          </a:prstGeom>
          <a:noFill/>
        </p:spPr>
        <p:txBody>
          <a:bodyPr wrap="square" anchor="t" lIns="25400" rIns="25400" tIns="25400" bIns="25400">
            <a:spAutoFit/>
          </a:bodyPr>
          <a:lstStyle/>
          <a:p>
            <a:pPr algn="r">
              <a:lnSpc>
                <a:spcPct val="100000"/>
              </a:lnSpc>
              <a:spcAft>
                <a:spcPts val="400"/>
              </a:spcAft>
            </a:pPr>
            <a:r>
              <a:rPr sz="1200" b="1">
                <a:solidFill>
                  <a:srgbClr val="C96F8A"/>
                </a:solidFill>
                <a:latin typeface="Arial"/>
              </a:rPr>
              <a:t>12</a:t>
            </a:r>
          </a:p>
        </p:txBody>
      </p:sp>
      <p:sp>
        <p:nvSpPr>
          <p:cNvPr id="7" name="TextBox 6"/>
          <p:cNvSpPr txBox="1"/>
          <p:nvPr/>
        </p:nvSpPr>
        <p:spPr>
          <a:xfrm>
            <a:off x="548640" y="6510528"/>
            <a:ext cx="8229600" cy="274320"/>
          </a:xfrm>
          <a:prstGeom prst="rect">
            <a:avLst/>
          </a:prstGeom>
          <a:noFill/>
        </p:spPr>
        <p:txBody>
          <a:bodyPr wrap="square" anchor="t" lIns="25400" rIns="25400" tIns="25400" bIns="25400">
            <a:spAutoFit/>
          </a:bodyPr>
          <a:lstStyle/>
          <a:p>
            <a:pPr algn="l">
              <a:lnSpc>
                <a:spcPct val="100000"/>
              </a:lnSpc>
              <a:spcAft>
                <a:spcPts val="400"/>
              </a:spcAft>
            </a:pPr>
            <a:r>
              <a:rPr sz="900" b="1">
                <a:solidFill>
                  <a:srgbClr val="6B6368"/>
                </a:solidFill>
                <a:latin typeface="Arial"/>
              </a:rPr>
              <a:t>Attune</a:t>
            </a:r>
            <a:r>
              <a:rPr sz="900" b="0">
                <a:solidFill>
                  <a:srgbClr val="6B6368"/>
                </a:solidFill>
                <a:latin typeface="Arial"/>
              </a:rPr>
              <a:t>  ·  the measurement layer for hormone therapy  ·  Milestone #2  ·  2026-07-03</a:t>
            </a:r>
          </a:p>
        </p:txBody>
      </p:sp>
      <p:sp>
        <p:nvSpPr>
          <p:cNvPr id="8" name="TextBox 7"/>
          <p:cNvSpPr txBox="1"/>
          <p:nvPr/>
        </p:nvSpPr>
        <p:spPr>
          <a:xfrm>
            <a:off x="548640" y="1280160"/>
            <a:ext cx="10972800" cy="457200"/>
          </a:xfrm>
          <a:prstGeom prst="rect">
            <a:avLst/>
          </a:prstGeom>
          <a:noFill/>
        </p:spPr>
        <p:txBody>
          <a:bodyPr wrap="square" anchor="t" lIns="25400" rIns="25400" tIns="25400" bIns="25400">
            <a:spAutoFit/>
          </a:bodyPr>
          <a:lstStyle/>
          <a:p>
            <a:pPr algn="l">
              <a:lnSpc>
                <a:spcPct val="100000"/>
              </a:lnSpc>
              <a:spcAft>
                <a:spcPts val="400"/>
              </a:spcAft>
            </a:pPr>
            <a:r>
              <a:rPr sz="1500" b="1">
                <a:solidFill>
                  <a:srgbClr val="4A1F3D"/>
                </a:solidFill>
                <a:latin typeface="Arial"/>
              </a:rPr>
              <a:t>Interviews conducted to date: </a:t>
            </a:r>
            <a:r>
              <a:rPr sz="1500" b="1">
                <a:solidFill>
                  <a:srgbClr val="C96F8A"/>
                </a:solidFill>
                <a:latin typeface="Arial"/>
              </a:rPr>
              <a:t>3</a:t>
            </a:r>
            <a:r>
              <a:rPr sz="1400" b="0">
                <a:solidFill>
                  <a:srgbClr val="2B252A"/>
                </a:solidFill>
                <a:latin typeface="Arial"/>
              </a:rPr>
              <a:t>  (1 formal + 2 expert conversations).  Round of 19 planned: 5 pharmacists · 5 prescribers · 10 patients.</a:t>
            </a:r>
          </a:p>
        </p:txBody>
      </p:sp>
      <p:sp>
        <p:nvSpPr>
          <p:cNvPr id="9" name="Rounded Rectangle 8"/>
          <p:cNvSpPr/>
          <p:nvPr/>
        </p:nvSpPr>
        <p:spPr>
          <a:xfrm>
            <a:off x="548640" y="1874519"/>
            <a:ext cx="3602736" cy="411480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874519"/>
            <a:ext cx="3602736" cy="64008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3328416" cy="640080"/>
          </a:xfrm>
          <a:prstGeom prst="rect">
            <a:avLst/>
          </a:prstGeom>
          <a:noFill/>
        </p:spPr>
        <p:txBody>
          <a:bodyPr wrap="square" anchor="ctr" lIns="25400" rIns="25400" tIns="25400" bIns="25400">
            <a:spAutoFit/>
          </a:bodyPr>
          <a:lstStyle/>
          <a:p>
            <a:pPr algn="l">
              <a:lnSpc>
                <a:spcPct val="98000"/>
              </a:lnSpc>
              <a:spcAft>
                <a:spcPts val="400"/>
              </a:spcAft>
            </a:pPr>
            <a:r>
              <a:rPr sz="1250" b="1">
                <a:solidFill>
                  <a:srgbClr val="FFFFFF"/>
                </a:solidFill>
                <a:latin typeface="Arial"/>
              </a:rPr>
              <a:t>1 · Community pharmacist (Canada)</a:t>
            </a:r>
          </a:p>
        </p:txBody>
      </p:sp>
      <p:sp>
        <p:nvSpPr>
          <p:cNvPr id="12" name="TextBox 11"/>
          <p:cNvSpPr txBox="1"/>
          <p:nvPr/>
        </p:nvSpPr>
        <p:spPr>
          <a:xfrm>
            <a:off x="713232" y="2651760"/>
            <a:ext cx="3273552" cy="3657600"/>
          </a:xfrm>
          <a:prstGeom prst="rect">
            <a:avLst/>
          </a:prstGeom>
          <a:noFill/>
        </p:spPr>
        <p:txBody>
          <a:bodyPr wrap="square">
            <a:spAutoFit/>
          </a:bodyPr>
          <a:lstStyle/>
          <a:p>
            <a:pPr>
              <a:lnSpc>
                <a:spcPct val="105000"/>
              </a:lnSpc>
              <a:spcAft>
                <a:spcPts val="700"/>
              </a:spcAft>
            </a:pPr>
            <a:r>
              <a:rPr sz="1150" b="1">
                <a:solidFill>
                  <a:srgbClr val="C96F8A"/>
                </a:solidFill>
                <a:latin typeface="Arial"/>
              </a:rPr>
              <a:t>•  </a:t>
            </a:r>
            <a:r>
              <a:rPr sz="1150" b="0">
                <a:solidFill>
                  <a:srgbClr val="2B252A"/>
                </a:solidFill>
                <a:latin typeface="Arial"/>
              </a:rPr>
              <a:t>“Compliance is an issue for us.” — named it a real problem, unprompted</a:t>
            </a:r>
          </a:p>
          <a:p>
            <a:pPr>
              <a:lnSpc>
                <a:spcPct val="105000"/>
              </a:lnSpc>
              <a:spcAft>
                <a:spcPts val="700"/>
              </a:spcAft>
            </a:pPr>
            <a:r>
              <a:rPr sz="1150" b="1">
                <a:solidFill>
                  <a:srgbClr val="C96F8A"/>
                </a:solidFill>
                <a:latin typeface="Arial"/>
              </a:rPr>
              <a:t>•  </a:t>
            </a:r>
            <a:r>
              <a:rPr sz="1150" b="0">
                <a:solidFill>
                  <a:srgbClr val="2B252A"/>
                </a:solidFill>
                <a:latin typeface="Arial"/>
              </a:rPr>
              <a:t>Endorsed continuous tracking + patient education as the top levers</a:t>
            </a:r>
          </a:p>
          <a:p>
            <a:pPr>
              <a:lnSpc>
                <a:spcPct val="105000"/>
              </a:lnSpc>
              <a:spcAft>
                <a:spcPts val="700"/>
              </a:spcAft>
            </a:pPr>
            <a:r>
              <a:rPr sz="1150" b="1">
                <a:solidFill>
                  <a:srgbClr val="C96F8A"/>
                </a:solidFill>
                <a:latin typeface="Arial"/>
              </a:rPr>
              <a:t>•  </a:t>
            </a:r>
            <a:r>
              <a:rPr sz="1150" b="0">
                <a:solidFill>
                  <a:srgbClr val="2B252A"/>
                </a:solidFill>
                <a:latin typeface="Arial"/>
              </a:rPr>
              <a:t>Framed it as a chronic-medication need (fits our titration-season design)</a:t>
            </a:r>
          </a:p>
          <a:p>
            <a:pPr>
              <a:lnSpc>
                <a:spcPct val="105000"/>
              </a:lnSpc>
              <a:spcAft>
                <a:spcPts val="700"/>
              </a:spcAft>
            </a:pPr>
            <a:r>
              <a:rPr sz="1150" b="1">
                <a:solidFill>
                  <a:srgbClr val="C96F8A"/>
                </a:solidFill>
                <a:latin typeface="Arial"/>
              </a:rPr>
              <a:t>•  </a:t>
            </a:r>
            <a:r>
              <a:rPr sz="1150" b="0">
                <a:solidFill>
                  <a:srgbClr val="2B252A"/>
                </a:solidFill>
                <a:latin typeface="Arial"/>
              </a:rPr>
              <a:t>Signal: pharmacists can adapt/renew Rx in 7 CA provinces → possible channel</a:t>
            </a:r>
          </a:p>
        </p:txBody>
      </p:sp>
      <p:sp>
        <p:nvSpPr>
          <p:cNvPr id="13" name="Rounded Rectangle 12"/>
          <p:cNvSpPr/>
          <p:nvPr/>
        </p:nvSpPr>
        <p:spPr>
          <a:xfrm>
            <a:off x="4279392" y="1874519"/>
            <a:ext cx="3602736" cy="411480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1874519"/>
            <a:ext cx="3602736" cy="64008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1874519"/>
            <a:ext cx="3328416" cy="640080"/>
          </a:xfrm>
          <a:prstGeom prst="rect">
            <a:avLst/>
          </a:prstGeom>
          <a:noFill/>
        </p:spPr>
        <p:txBody>
          <a:bodyPr wrap="square" anchor="ctr" lIns="25400" rIns="25400" tIns="25400" bIns="25400">
            <a:spAutoFit/>
          </a:bodyPr>
          <a:lstStyle/>
          <a:p>
            <a:pPr algn="l">
              <a:lnSpc>
                <a:spcPct val="98000"/>
              </a:lnSpc>
              <a:spcAft>
                <a:spcPts val="400"/>
              </a:spcAft>
            </a:pPr>
            <a:r>
              <a:rPr sz="1250" b="1">
                <a:solidFill>
                  <a:srgbClr val="FFFFFF"/>
                </a:solidFill>
                <a:latin typeface="Arial"/>
              </a:rPr>
              <a:t>2 · ENT physician (peer)</a:t>
            </a:r>
          </a:p>
        </p:txBody>
      </p:sp>
      <p:sp>
        <p:nvSpPr>
          <p:cNvPr id="16" name="TextBox 15"/>
          <p:cNvSpPr txBox="1"/>
          <p:nvPr/>
        </p:nvSpPr>
        <p:spPr>
          <a:xfrm>
            <a:off x="4443984" y="2651760"/>
            <a:ext cx="3273552" cy="3657600"/>
          </a:xfrm>
          <a:prstGeom prst="rect">
            <a:avLst/>
          </a:prstGeom>
          <a:noFill/>
        </p:spPr>
        <p:txBody>
          <a:bodyPr wrap="square">
            <a:spAutoFit/>
          </a:bodyPr>
          <a:lstStyle/>
          <a:p>
            <a:pPr>
              <a:lnSpc>
                <a:spcPct val="105000"/>
              </a:lnSpc>
              <a:spcAft>
                <a:spcPts val="700"/>
              </a:spcAft>
            </a:pPr>
            <a:r>
              <a:rPr sz="1150" b="1">
                <a:solidFill>
                  <a:srgbClr val="C96F8A"/>
                </a:solidFill>
                <a:latin typeface="Arial"/>
              </a:rPr>
              <a:t>•  </a:t>
            </a:r>
            <a:r>
              <a:rPr sz="1150" b="0">
                <a:solidFill>
                  <a:srgbClr val="2B252A"/>
                </a:solidFill>
                <a:latin typeface="Arial"/>
              </a:rPr>
              <a:t>Big-device tracking (sleep, weight) is already mature &amp; trusted</a:t>
            </a:r>
          </a:p>
          <a:p>
            <a:pPr>
              <a:lnSpc>
                <a:spcPct val="105000"/>
              </a:lnSpc>
              <a:spcAft>
                <a:spcPts val="700"/>
              </a:spcAft>
            </a:pPr>
            <a:r>
              <a:rPr sz="1150" b="1">
                <a:solidFill>
                  <a:srgbClr val="C96F8A"/>
                </a:solidFill>
                <a:latin typeface="Arial"/>
              </a:rPr>
              <a:t>•  </a:t>
            </a:r>
            <a:r>
              <a:rPr sz="1150" b="0">
                <a:solidFill>
                  <a:srgbClr val="2B252A"/>
                </a:solidFill>
                <a:latin typeface="Arial"/>
              </a:rPr>
              <a:t>Suggested folding follow-up questions into that tracking</a:t>
            </a:r>
          </a:p>
          <a:p>
            <a:pPr>
              <a:lnSpc>
                <a:spcPct val="105000"/>
              </a:lnSpc>
              <a:spcAft>
                <a:spcPts val="700"/>
              </a:spcAft>
            </a:pPr>
            <a:r>
              <a:rPr sz="1150" b="1">
                <a:solidFill>
                  <a:srgbClr val="C96F8A"/>
                </a:solidFill>
                <a:latin typeface="Arial"/>
              </a:rPr>
              <a:t>•  </a:t>
            </a:r>
            <a:r>
              <a:rPr sz="1150" b="0">
                <a:solidFill>
                  <a:srgbClr val="2B252A"/>
                </a:solidFill>
                <a:latin typeface="Arial"/>
              </a:rPr>
              <a:t>Read both ways: validates the mechanism AND flags the device-maker threat</a:t>
            </a:r>
          </a:p>
          <a:p>
            <a:pPr>
              <a:lnSpc>
                <a:spcPct val="105000"/>
              </a:lnSpc>
              <a:spcAft>
                <a:spcPts val="700"/>
              </a:spcAft>
            </a:pPr>
            <a:r>
              <a:rPr sz="1150" b="1">
                <a:solidFill>
                  <a:srgbClr val="C96F8A"/>
                </a:solidFill>
                <a:latin typeface="Arial"/>
              </a:rPr>
              <a:t>•  </a:t>
            </a:r>
            <a:r>
              <a:rPr sz="1150" b="0">
                <a:solidFill>
                  <a:srgbClr val="2B252A"/>
                </a:solidFill>
                <a:latin typeface="Arial"/>
              </a:rPr>
              <a:t>Our answer: they’re the collection layer; we’re the treatment loop</a:t>
            </a:r>
          </a:p>
        </p:txBody>
      </p:sp>
      <p:sp>
        <p:nvSpPr>
          <p:cNvPr id="17" name="Rounded Rectangle 16"/>
          <p:cNvSpPr/>
          <p:nvPr/>
        </p:nvSpPr>
        <p:spPr>
          <a:xfrm>
            <a:off x="8010144" y="1874519"/>
            <a:ext cx="3602736" cy="4114800"/>
          </a:xfrm>
          <a:prstGeom prst="roundRect">
            <a:avLst/>
          </a:prstGeom>
          <a:solidFill>
            <a:srgbClr val="FBF8FA"/>
          </a:solidFill>
          <a:ln w="12700">
            <a:solidFill>
              <a:srgbClr val="E3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10144" y="1874519"/>
            <a:ext cx="3602736" cy="640080"/>
          </a:xfrm>
          <a:prstGeom prst="rect">
            <a:avLst/>
          </a:prstGeom>
          <a:solidFill>
            <a:srgbClr val="6E3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47304" y="1874519"/>
            <a:ext cx="3328416" cy="640080"/>
          </a:xfrm>
          <a:prstGeom prst="rect">
            <a:avLst/>
          </a:prstGeom>
          <a:noFill/>
        </p:spPr>
        <p:txBody>
          <a:bodyPr wrap="square" anchor="ctr" lIns="25400" rIns="25400" tIns="25400" bIns="25400">
            <a:spAutoFit/>
          </a:bodyPr>
          <a:lstStyle/>
          <a:p>
            <a:pPr algn="l">
              <a:lnSpc>
                <a:spcPct val="98000"/>
              </a:lnSpc>
              <a:spcAft>
                <a:spcPts val="400"/>
              </a:spcAft>
            </a:pPr>
            <a:r>
              <a:rPr sz="1250" b="1">
                <a:solidFill>
                  <a:srgbClr val="FFFFFF"/>
                </a:solidFill>
                <a:latin typeface="Arial"/>
              </a:rPr>
              <a:t>3 · Health-industry contact (US conf, last wk)</a:t>
            </a:r>
          </a:p>
        </p:txBody>
      </p:sp>
      <p:sp>
        <p:nvSpPr>
          <p:cNvPr id="20" name="TextBox 19"/>
          <p:cNvSpPr txBox="1"/>
          <p:nvPr/>
        </p:nvSpPr>
        <p:spPr>
          <a:xfrm>
            <a:off x="8174736" y="2651760"/>
            <a:ext cx="3273552" cy="3657600"/>
          </a:xfrm>
          <a:prstGeom prst="rect">
            <a:avLst/>
          </a:prstGeom>
          <a:noFill/>
        </p:spPr>
        <p:txBody>
          <a:bodyPr wrap="square">
            <a:spAutoFit/>
          </a:bodyPr>
          <a:lstStyle/>
          <a:p>
            <a:pPr>
              <a:lnSpc>
                <a:spcPct val="105000"/>
              </a:lnSpc>
              <a:spcAft>
                <a:spcPts val="700"/>
              </a:spcAft>
            </a:pPr>
            <a:r>
              <a:rPr sz="1150" b="1">
                <a:solidFill>
                  <a:srgbClr val="C96F8A"/>
                </a:solidFill>
                <a:latin typeface="Arial"/>
              </a:rPr>
              <a:t>•  </a:t>
            </a:r>
            <a:r>
              <a:rPr sz="1150" b="0">
                <a:solidFill>
                  <a:srgbClr val="2B252A"/>
                </a:solidFill>
                <a:latin typeface="Arial"/>
              </a:rPr>
              <a:t>Reported: pharma actively wants post-prescription real-world data</a:t>
            </a:r>
          </a:p>
          <a:p>
            <a:pPr>
              <a:lnSpc>
                <a:spcPct val="105000"/>
              </a:lnSpc>
              <a:spcAft>
                <a:spcPts val="700"/>
              </a:spcAft>
            </a:pPr>
            <a:r>
              <a:rPr sz="1150" b="1">
                <a:solidFill>
                  <a:srgbClr val="C96F8A"/>
                </a:solidFill>
                <a:latin typeface="Arial"/>
              </a:rPr>
              <a:t>•  </a:t>
            </a:r>
            <a:r>
              <a:rPr sz="1150" b="0">
                <a:solidFill>
                  <a:srgbClr val="2B252A"/>
                </a:solidFill>
                <a:latin typeface="Arial"/>
              </a:rPr>
              <a:t>Directly validates our primary buyer (Astellas’ OPTION-VMS proves the spend)</a:t>
            </a:r>
          </a:p>
          <a:p>
            <a:pPr>
              <a:lnSpc>
                <a:spcPct val="105000"/>
              </a:lnSpc>
              <a:spcAft>
                <a:spcPts val="700"/>
              </a:spcAft>
            </a:pPr>
            <a:r>
              <a:rPr sz="1150" b="1">
                <a:solidFill>
                  <a:srgbClr val="C96F8A"/>
                </a:solidFill>
                <a:latin typeface="Arial"/>
              </a:rPr>
              <a:t>•  </a:t>
            </a:r>
            <a:r>
              <a:rPr sz="1150" b="0">
                <a:solidFill>
                  <a:srgbClr val="2B252A"/>
                </a:solidFill>
                <a:latin typeface="Arial"/>
              </a:rPr>
              <a:t>Turns the pharma line from hypothesis → corroborated signal</a:t>
            </a:r>
          </a:p>
          <a:p>
            <a:pPr>
              <a:lnSpc>
                <a:spcPct val="105000"/>
              </a:lnSpc>
              <a:spcAft>
                <a:spcPts val="700"/>
              </a:spcAft>
            </a:pPr>
            <a:r>
              <a:rPr sz="1150" b="1">
                <a:solidFill>
                  <a:srgbClr val="C96F8A"/>
                </a:solidFill>
                <a:latin typeface="Arial"/>
              </a:rPr>
              <a:t>•  </a:t>
            </a:r>
            <a:r>
              <a:rPr sz="1150" b="0">
                <a:solidFill>
                  <a:srgbClr val="2B252A"/>
                </a:solidFill>
                <a:latin typeface="Arial"/>
              </a:rPr>
              <a:t>Next: get a medical-affairs intro for price discovery</a:t>
            </a:r>
          </a:p>
        </p:txBody>
      </p:sp>
      <p:sp>
        <p:nvSpPr>
          <p:cNvPr id="21" name="TextBox 20"/>
          <p:cNvSpPr txBox="1"/>
          <p:nvPr/>
        </p:nvSpPr>
        <p:spPr>
          <a:xfrm>
            <a:off x="548640" y="6172200"/>
            <a:ext cx="11064240" cy="365760"/>
          </a:xfrm>
          <a:prstGeom prst="rect">
            <a:avLst/>
          </a:prstGeom>
          <a:noFill/>
        </p:spPr>
        <p:txBody>
          <a:bodyPr wrap="square" anchor="t" lIns="25400" rIns="25400" tIns="25400" bIns="25400">
            <a:spAutoFit/>
          </a:bodyPr>
          <a:lstStyle/>
          <a:p>
            <a:pPr algn="l">
              <a:lnSpc>
                <a:spcPct val="100000"/>
              </a:lnSpc>
              <a:spcAft>
                <a:spcPts val="400"/>
              </a:spcAft>
            </a:pPr>
            <a:r>
              <a:rPr sz="1200" b="1">
                <a:solidFill>
                  <a:srgbClr val="4A1F3D"/>
                </a:solidFill>
                <a:latin typeface="Arial"/>
              </a:rPr>
              <a:t>Honest read: </a:t>
            </a:r>
            <a:r>
              <a:rPr sz="1200" b="0" i="1">
                <a:solidFill>
                  <a:srgbClr val="6B6368"/>
                </a:solidFill>
                <a:latin typeface="Arial"/>
              </a:rPr>
              <a:t>small n, some primed questions. Next round asks only about past behaviour (Mom Test) and probes willingness to pay.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11680"/>
            <a:ext cx="12191695" cy="38100"/>
          </a:xfrm>
          <a:prstGeom prst="rect">
            <a:avLst/>
          </a:prstGeom>
          <a:solidFill>
            <a:srgbClr val="C96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31520"/>
            <a:ext cx="10515600" cy="1097280"/>
          </a:xfrm>
          <a:prstGeom prst="rect">
            <a:avLst/>
          </a:prstGeom>
          <a:noFill/>
        </p:spPr>
        <p:txBody>
          <a:bodyPr wrap="square" anchor="t" lIns="25400" rIns="25400" tIns="25400" bIns="25400">
            <a:spAutoFit/>
          </a:bodyPr>
          <a:lstStyle/>
          <a:p>
            <a:pPr algn="l">
              <a:lnSpc>
                <a:spcPct val="112000"/>
              </a:lnSpc>
              <a:spcAft>
                <a:spcPts val="400"/>
              </a:spcAft>
            </a:pPr>
            <a:r>
              <a:rPr sz="1500" b="1">
                <a:solidFill>
                  <a:srgbClr val="C96F8A"/>
                </a:solidFill>
                <a:latin typeface="Arial"/>
              </a:rPr>
              <a:t>The one line</a:t>
            </a:r>
          </a:p>
          <a:p>
            <a:pPr algn="l">
              <a:lnSpc>
                <a:spcPct val="112000"/>
              </a:lnSpc>
              <a:spcAft>
                <a:spcPts val="400"/>
              </a:spcAft>
            </a:pPr>
            <a:r>
              <a:rPr sz="2600" b="1">
                <a:solidFill>
                  <a:srgbClr val="FFFFFF"/>
                </a:solidFill>
                <a:latin typeface="Arial"/>
              </a:rPr>
              <a:t>Half of women quit hormone therapy in year one because</a:t>
            </a:r>
          </a:p>
          <a:p>
            <a:pPr algn="l">
              <a:lnSpc>
                <a:spcPct val="112000"/>
              </a:lnSpc>
              <a:spcAft>
                <a:spcPts val="400"/>
              </a:spcAft>
            </a:pPr>
            <a:r>
              <a:rPr sz="2600" b="1">
                <a:solidFill>
                  <a:srgbClr val="FFFFFF"/>
                </a:solidFill>
                <a:latin typeface="Arial"/>
              </a:rPr>
              <a:t>no one records what happens between prescriptions. We do.</a:t>
            </a:r>
          </a:p>
        </p:txBody>
      </p:sp>
      <p:sp>
        <p:nvSpPr>
          <p:cNvPr id="5" name="TextBox 4"/>
          <p:cNvSpPr txBox="1"/>
          <p:nvPr/>
        </p:nvSpPr>
        <p:spPr>
          <a:xfrm>
            <a:off x="822960" y="2377440"/>
            <a:ext cx="10515600" cy="457200"/>
          </a:xfrm>
          <a:prstGeom prst="rect">
            <a:avLst/>
          </a:prstGeom>
          <a:noFill/>
        </p:spPr>
        <p:txBody>
          <a:bodyPr wrap="square" anchor="t" lIns="25400" rIns="25400" tIns="25400" bIns="25400">
            <a:spAutoFit/>
          </a:bodyPr>
          <a:lstStyle/>
          <a:p>
            <a:pPr algn="l">
              <a:lnSpc>
                <a:spcPct val="100000"/>
              </a:lnSpc>
              <a:spcAft>
                <a:spcPts val="400"/>
              </a:spcAft>
            </a:pPr>
            <a:r>
              <a:rPr sz="1500" b="1">
                <a:solidFill>
                  <a:srgbClr val="C89B3C"/>
                </a:solidFill>
                <a:latin typeface="Arial"/>
              </a:rPr>
              <a:t>Next 90 days</a:t>
            </a:r>
          </a:p>
        </p:txBody>
      </p:sp>
      <p:sp>
        <p:nvSpPr>
          <p:cNvPr id="6" name="TextBox 5"/>
          <p:cNvSpPr txBox="1"/>
          <p:nvPr/>
        </p:nvSpPr>
        <p:spPr>
          <a:xfrm>
            <a:off x="822960" y="2880360"/>
            <a:ext cx="10515600" cy="3657600"/>
          </a:xfrm>
          <a:prstGeom prst="rect">
            <a:avLst/>
          </a:prstGeom>
          <a:noFill/>
        </p:spPr>
        <p:txBody>
          <a:bodyPr wrap="square">
            <a:spAutoFit/>
          </a:bodyPr>
          <a:lstStyle/>
          <a:p>
            <a:pPr>
              <a:lnSpc>
                <a:spcPct val="105000"/>
              </a:lnSpc>
              <a:spcAft>
                <a:spcPts val="1000"/>
              </a:spcAft>
            </a:pPr>
            <a:r>
              <a:rPr sz="1500" b="1">
                <a:solidFill>
                  <a:srgbClr val="C96F8A"/>
                </a:solidFill>
                <a:latin typeface="Arial"/>
              </a:rPr>
              <a:t>•  </a:t>
            </a:r>
            <a:r>
              <a:rPr sz="1500" b="1">
                <a:solidFill>
                  <a:srgbClr val="C96F8A"/>
                </a:solidFill>
                <a:latin typeface="Arial"/>
              </a:rPr>
              <a:t>Validation: </a:t>
            </a:r>
            <a:r>
              <a:rPr sz="1500" b="0">
                <a:solidFill>
                  <a:srgbClr val="FFFFFF"/>
                </a:solidFill>
                <a:latin typeface="Arial"/>
              </a:rPr>
              <a:t>19 behaviour-based interviews + live landing-page smoke test (real conversion number)</a:t>
            </a:r>
          </a:p>
          <a:p>
            <a:pPr>
              <a:lnSpc>
                <a:spcPct val="105000"/>
              </a:lnSpc>
              <a:spcAft>
                <a:spcPts val="1000"/>
              </a:spcAft>
            </a:pPr>
            <a:r>
              <a:rPr sz="1500" b="1">
                <a:solidFill>
                  <a:srgbClr val="C96F8A"/>
                </a:solidFill>
                <a:latin typeface="Arial"/>
              </a:rPr>
              <a:t>•  </a:t>
            </a:r>
            <a:r>
              <a:rPr sz="1500" b="1">
                <a:solidFill>
                  <a:srgbClr val="C96F8A"/>
                </a:solidFill>
                <a:latin typeface="Arial"/>
              </a:rPr>
              <a:t>Data: </a:t>
            </a:r>
            <a:r>
              <a:rPr sz="1500" b="0">
                <a:solidFill>
                  <a:srgbClr val="FFFFFF"/>
                </a:solidFill>
                <a:latin typeface="Arial"/>
              </a:rPr>
              <a:t>buy a claims slice to nail annual new-starts and titration-change rates</a:t>
            </a:r>
          </a:p>
          <a:p>
            <a:pPr>
              <a:lnSpc>
                <a:spcPct val="105000"/>
              </a:lnSpc>
              <a:spcAft>
                <a:spcPts val="1000"/>
              </a:spcAft>
            </a:pPr>
            <a:r>
              <a:rPr sz="1500" b="1">
                <a:solidFill>
                  <a:srgbClr val="C96F8A"/>
                </a:solidFill>
                <a:latin typeface="Arial"/>
              </a:rPr>
              <a:t>•  </a:t>
            </a:r>
            <a:r>
              <a:rPr sz="1500" b="1">
                <a:solidFill>
                  <a:srgbClr val="C96F8A"/>
                </a:solidFill>
                <a:latin typeface="Arial"/>
              </a:rPr>
              <a:t>Buyers: </a:t>
            </a:r>
            <a:r>
              <a:rPr sz="1500" b="0">
                <a:solidFill>
                  <a:srgbClr val="FFFFFF"/>
                </a:solidFill>
                <a:latin typeface="Arial"/>
              </a:rPr>
              <a:t>one pharma medical-affairs intro (price discovery) + one clinic design partner</a:t>
            </a:r>
          </a:p>
          <a:p>
            <a:pPr>
              <a:lnSpc>
                <a:spcPct val="105000"/>
              </a:lnSpc>
              <a:spcAft>
                <a:spcPts val="1000"/>
              </a:spcAft>
            </a:pPr>
            <a:r>
              <a:rPr sz="1500" b="1">
                <a:solidFill>
                  <a:srgbClr val="C96F8A"/>
                </a:solidFill>
                <a:latin typeface="Arial"/>
              </a:rPr>
              <a:t>•  </a:t>
            </a:r>
            <a:r>
              <a:rPr sz="1500" b="1">
                <a:solidFill>
                  <a:srgbClr val="C96F8A"/>
                </a:solidFill>
                <a:latin typeface="Arial"/>
              </a:rPr>
              <a:t>Compliance: </a:t>
            </a:r>
            <a:r>
              <a:rPr sz="1500" b="0">
                <a:solidFill>
                  <a:srgbClr val="FFFFFF"/>
                </a:solidFill>
                <a:latin typeface="Arial"/>
              </a:rPr>
              <a:t>a $5–10k SaMD/regulatory scoping call on the red-flag boundary</a:t>
            </a:r>
          </a:p>
        </p:txBody>
      </p:sp>
      <p:sp>
        <p:nvSpPr>
          <p:cNvPr id="7" name="TextBox 6"/>
          <p:cNvSpPr txBox="1"/>
          <p:nvPr/>
        </p:nvSpPr>
        <p:spPr>
          <a:xfrm>
            <a:off x="822960" y="5852160"/>
            <a:ext cx="10515600" cy="640080"/>
          </a:xfrm>
          <a:prstGeom prst="rect">
            <a:avLst/>
          </a:prstGeom>
          <a:noFill/>
        </p:spPr>
        <p:txBody>
          <a:bodyPr wrap="square" anchor="t" lIns="25400" rIns="25400" tIns="25400" bIns="25400">
            <a:spAutoFit/>
          </a:bodyPr>
          <a:lstStyle/>
          <a:p>
            <a:pPr algn="l">
              <a:lnSpc>
                <a:spcPct val="100000"/>
              </a:lnSpc>
              <a:spcAft>
                <a:spcPts val="400"/>
              </a:spcAft>
            </a:pPr>
            <a:r>
              <a:rPr sz="2000" b="1">
                <a:solidFill>
                  <a:srgbClr val="FFFFFF"/>
                </a:solidFill>
                <a:latin typeface="Arial"/>
              </a:rPr>
              <a:t>Attune</a:t>
            </a:r>
            <a:r>
              <a:rPr sz="1700" b="0">
                <a:solidFill>
                  <a:srgbClr val="D9C7D2"/>
                </a:solidFill>
                <a:latin typeface="Arial"/>
              </a:rPr>
              <a:t>  —  turning “dose by feel” into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